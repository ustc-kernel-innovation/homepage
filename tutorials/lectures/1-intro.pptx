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71" r:id="rId5"/>
    <p:sldId id="285" r:id="rId6"/>
    <p:sldId id="287" r:id="rId7"/>
    <p:sldId id="298" r:id="rId8"/>
    <p:sldId id="297" r:id="rId9"/>
    <p:sldId id="288" r:id="rId10"/>
    <p:sldId id="291" r:id="rId11"/>
    <p:sldId id="289" r:id="rId12"/>
    <p:sldId id="293" r:id="rId13"/>
    <p:sldId id="299" r:id="rId14"/>
    <p:sldId id="300" r:id="rId15"/>
    <p:sldId id="296" r:id="rId16"/>
    <p:sldId id="258" r:id="rId17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FFFFFF"/>
    <a:srgbClr val="DCDCDC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/>
    <p:restoredTop sz="94660"/>
  </p:normalViewPr>
  <p:slideViewPr>
    <p:cSldViewPr snapToGrid="0" showGuides="1">
      <p:cViewPr varScale="1">
        <p:scale>
          <a:sx n="95" d="100"/>
          <a:sy n="95" d="100"/>
        </p:scale>
        <p:origin x="67" y="7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2026/1/22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2026/1/22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2026/1/22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2026/1/22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2026/1/22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2026/1/22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2026/1/22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2026/1/22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2026/1/22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2026/1/22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2026/1/22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2026/1/22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jpeg"/><Relationship Id="rId5" Type="http://schemas.openxmlformats.org/officeDocument/2006/relationships/image" Target="../media/image1.png"/><Relationship Id="rId4" Type="http://schemas.openxmlformats.org/officeDocument/2006/relationships/hyperlink" Target="https://developer.nvidia.com/blog/nvidia-hopper-architecture-in-depth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hyperlink" Target="https://www.bilibili.com/video/BV1SZdwYTEM8/?spm_id_from=333.1387.favlist.content.click&amp;vd_source=09d1bf2cbd84e8b3aa3357a436352b3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hyperlink" Target="https://www.bilibili.com/video/BV1SZdwYTEM8/?spm_id_from=333.1387.favlist.content.click&amp;vd_source=09d1bf2cbd84e8b3aa3357a436352b3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hyperlink" Target="https://github.com/nvidia/cutile-python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GHQ1M3VDOmU&amp;list=PLSXcJOyFhmS-qb_CF-GLhkWxSmi-ftbPO&amp;index=1" TargetMode="External"/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i-techx.github.io/iTechX/courses?course_code=CS121" TargetMode="Externa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hyperlink" Target="https://salykova.github.io/gemm-cpu" TargetMode="External"/><Relationship Id="rId5" Type="http://schemas.openxmlformats.org/officeDocument/2006/relationships/hyperlink" Target="https://github.com/NVIDIA/cutlass/tree/main" TargetMode="External"/><Relationship Id="rId4" Type="http://schemas.openxmlformats.org/officeDocument/2006/relationships/hyperlink" Target="https://github.com/deepseek-ai/DeepGEMM" TargetMode="External"/><Relationship Id="rId9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68513" y="1297782"/>
            <a:ext cx="10054974" cy="1606550"/>
          </a:xfrm>
        </p:spPr>
        <p:txBody>
          <a:bodyPr vert="horz" lIns="90000" tIns="46800" rIns="90000" bIns="46800" anchor="b" anchorCtr="0"/>
          <a:lstStyle/>
          <a:p>
            <a:pPr defTabSz="914400">
              <a:buClrTx/>
              <a:buSzTx/>
              <a:buFontTx/>
              <a:buNone/>
            </a:pPr>
            <a:r>
              <a:rPr lang="en-US" altLang="zh-CN" sz="4400" kern="1200" normalizeH="0" baseline="0" dirty="0">
                <a:latin typeface="+mj-lt"/>
                <a:ea typeface="+mj-ea"/>
                <a:cs typeface="+mj-cs"/>
              </a:rPr>
              <a:t>Brief Introduction to Operator Dev</a:t>
            </a:r>
          </a:p>
        </p:txBody>
      </p:sp>
      <p:sp>
        <p:nvSpPr>
          <p:cNvPr id="2051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563" y="3535363"/>
            <a:ext cx="9799637" cy="1473200"/>
          </a:xfrm>
        </p:spPr>
        <p:txBody>
          <a:bodyPr vert="horz" lIns="90000" tIns="46800" rIns="90000" bIns="46800" anchor="t" anchorCtr="0">
            <a:normAutofit lnSpcReduction="10000"/>
          </a:bodyPr>
          <a:lstStyle/>
          <a:p>
            <a:pPr defTabSz="914400">
              <a:buClrTx/>
              <a:buSzTx/>
            </a:pPr>
            <a:r>
              <a:rPr lang="en-US" altLang="zh-CN" kern="1200" normalizeH="0" baseline="0" dirty="0">
                <a:latin typeface="+mn-lt"/>
                <a:ea typeface="+mn-ea"/>
                <a:cs typeface="+mn-cs"/>
              </a:rPr>
              <a:t>Presenter: </a:t>
            </a:r>
            <a:r>
              <a:rPr lang="en-US" altLang="zh-CN" kern="1200" normalizeH="0" baseline="0" dirty="0" err="1">
                <a:latin typeface="+mn-lt"/>
                <a:ea typeface="+mn-ea"/>
                <a:cs typeface="+mn-cs"/>
              </a:rPr>
              <a:t>Jingwen</a:t>
            </a:r>
            <a:r>
              <a:rPr lang="en-US" altLang="zh-CN" kern="1200" normalizeH="0" baseline="0" dirty="0">
                <a:latin typeface="+mn-lt"/>
                <a:ea typeface="+mn-ea"/>
                <a:cs typeface="+mn-cs"/>
              </a:rPr>
              <a:t> Sun</a:t>
            </a:r>
            <a:endParaRPr lang="zh-CN" altLang="en-US" kern="1200" normalizeH="0" baseline="0" dirty="0">
              <a:latin typeface="+mn-lt"/>
              <a:ea typeface="+mn-ea"/>
              <a:cs typeface="+mn-cs"/>
            </a:endParaRPr>
          </a:p>
          <a:p>
            <a:pPr defTabSz="914400">
              <a:buClrTx/>
              <a:buSzTx/>
            </a:pPr>
            <a:r>
              <a:rPr lang="en-US" altLang="zh-CN" kern="1200" normalizeH="0" baseline="0" dirty="0">
                <a:latin typeface="+mn-lt"/>
                <a:ea typeface="+mn-ea"/>
                <a:cs typeface="+mn-cs"/>
              </a:rPr>
              <a:t>2026.1.22  Thu</a:t>
            </a:r>
          </a:p>
          <a:p>
            <a:pPr defTabSz="914400">
              <a:buClrTx/>
              <a:buSzTx/>
            </a:pPr>
            <a:r>
              <a:rPr lang="en-US" altLang="zh-CN" dirty="0"/>
              <a:t>USTC,</a:t>
            </a:r>
            <a:r>
              <a:rPr lang="zh-CN" altLang="en-US" dirty="0"/>
              <a:t> </a:t>
            </a:r>
            <a:r>
              <a:rPr lang="en-US" altLang="zh-CN" dirty="0"/>
              <a:t>Hefei,</a:t>
            </a:r>
            <a:r>
              <a:rPr lang="zh-CN" altLang="en-US" dirty="0"/>
              <a:t> </a:t>
            </a:r>
            <a:r>
              <a:rPr lang="en-US" altLang="zh-CN" dirty="0"/>
              <a:t>China</a:t>
            </a:r>
            <a:endParaRPr lang="en-US" altLang="zh-CN" kern="1200" normalizeH="0" baseline="0" dirty="0">
              <a:latin typeface="+mn-lt"/>
              <a:ea typeface="+mn-ea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234440" y="3114675"/>
            <a:ext cx="9763760" cy="0"/>
          </a:xfrm>
          <a:prstGeom prst="line">
            <a:avLst/>
          </a:prstGeom>
          <a:ln w="38100" cmpd="sng">
            <a:gradFill>
              <a:gsLst>
                <a:gs pos="0">
                  <a:srgbClr val="D2DCF2">
                    <a:alpha val="100000"/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9000">
                  <a:schemeClr val="accent1">
                    <a:lumMod val="45000"/>
                    <a:lumOff val="55000"/>
                  </a:schemeClr>
                </a:gs>
                <a:gs pos="71000">
                  <a:schemeClr val="accent1">
                    <a:lumMod val="78000"/>
                    <a:lumOff val="22000"/>
                  </a:schemeClr>
                </a:gs>
                <a:gs pos="49000">
                  <a:schemeClr val="accent1"/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013" y="1490663"/>
            <a:ext cx="10969625" cy="4759325"/>
          </a:xfrm>
        </p:spPr>
        <p:txBody>
          <a:bodyPr lIns="90000" tIns="46800" rIns="90000" bIns="46800" rtlCol="0">
            <a:normAutofit/>
          </a:bodyPr>
          <a:lstStyle/>
          <a:p>
            <a:pPr marR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Our contest</a:t>
            </a:r>
          </a:p>
          <a:p>
            <a:pPr marR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GPU &amp; NPU</a:t>
            </a:r>
          </a:p>
          <a:p>
            <a:pPr marR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Operator</a:t>
            </a:r>
          </a:p>
          <a:p>
            <a:pPr marR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Languages</a:t>
            </a:r>
          </a:p>
          <a:p>
            <a:pPr marR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Parallel programming algorithms</a:t>
            </a:r>
          </a:p>
          <a:p>
            <a:pPr marR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Learning resources</a:t>
            </a:r>
            <a:endParaRPr kumimoji="0" lang="en-US" altLang="zh-CN" sz="28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zh-CN" sz="28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Outline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" descr="2da64451-6151-4c70-995c-fccc65c1d94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838325" y="374650"/>
            <a:ext cx="8178800" cy="692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Our contest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D66D90-5C48-7419-ABA0-51412DAEA4D3}"/>
              </a:ext>
            </a:extLst>
          </p:cNvPr>
          <p:cNvSpPr/>
          <p:nvPr/>
        </p:nvSpPr>
        <p:spPr>
          <a:xfrm>
            <a:off x="8565987" y="1701908"/>
            <a:ext cx="2688336" cy="407173"/>
          </a:xfrm>
          <a:prstGeom prst="rect">
            <a:avLst/>
          </a:prstGeom>
          <a:noFill/>
          <a:ln w="28575">
            <a:solidFill>
              <a:srgbClr val="C9B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FE27E2-16A3-7703-6026-32A2F95BF25E}"/>
              </a:ext>
            </a:extLst>
          </p:cNvPr>
          <p:cNvSpPr txBox="1"/>
          <p:nvPr/>
        </p:nvSpPr>
        <p:spPr>
          <a:xfrm>
            <a:off x="8410560" y="1728668"/>
            <a:ext cx="215443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 + Required Environment    </a:t>
            </a:r>
            <a:endParaRPr kumimoji="1"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227FE4-B882-23B3-573D-3BCAB5221B2A}"/>
              </a:ext>
            </a:extLst>
          </p:cNvPr>
          <p:cNvSpPr/>
          <p:nvPr/>
        </p:nvSpPr>
        <p:spPr>
          <a:xfrm>
            <a:off x="8565987" y="2369199"/>
            <a:ext cx="2688336" cy="1084050"/>
          </a:xfrm>
          <a:prstGeom prst="rect">
            <a:avLst/>
          </a:prstGeom>
          <a:noFill/>
          <a:ln w="28575">
            <a:solidFill>
              <a:srgbClr val="C9B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53101B-894C-C24E-0AAC-1487DD88C2A8}"/>
              </a:ext>
            </a:extLst>
          </p:cNvPr>
          <p:cNvSpPr txBox="1"/>
          <p:nvPr/>
        </p:nvSpPr>
        <p:spPr>
          <a:xfrm>
            <a:off x="8771174" y="2388752"/>
            <a:ext cx="232316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Operator dev language</a:t>
            </a:r>
            <a:endParaRPr kumimoji="1"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标&#10;&#10;AI 生成的内容可能不正确。">
            <a:extLst>
              <a:ext uri="{FF2B5EF4-FFF2-40B4-BE49-F238E27FC236}">
                <a16:creationId xmlns:a16="http://schemas.microsoft.com/office/drawing/2014/main" id="{DF78F641-0585-267D-882B-0E9C9A21DB7B}"/>
              </a:ext>
            </a:extLst>
          </p:cNvPr>
          <p:cNvPicPr>
            <a:picLocks/>
          </p:cNvPicPr>
          <p:nvPr/>
        </p:nvPicPr>
        <p:blipFill>
          <a:blip r:embed="rId4"/>
          <a:srcRect t="9490"/>
          <a:stretch>
            <a:fillRect/>
          </a:stretch>
        </p:blipFill>
        <p:spPr>
          <a:xfrm>
            <a:off x="10230939" y="2570052"/>
            <a:ext cx="586651" cy="616355"/>
          </a:xfrm>
          <a:prstGeom prst="rect">
            <a:avLst/>
          </a:prstGeom>
        </p:spPr>
      </p:pic>
      <p:pic>
        <p:nvPicPr>
          <p:cNvPr id="14" name="图片 13" descr="形状&#10;&#10;AI 生成的内容可能不正确。">
            <a:extLst>
              <a:ext uri="{FF2B5EF4-FFF2-40B4-BE49-F238E27FC236}">
                <a16:creationId xmlns:a16="http://schemas.microsoft.com/office/drawing/2014/main" id="{DA7EAE42-0A2B-8081-3542-2CF1F491D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8691" y="2582035"/>
            <a:ext cx="586651" cy="61635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8AF0211-1518-4990-7B58-5DA8B2AB2EBC}"/>
              </a:ext>
            </a:extLst>
          </p:cNvPr>
          <p:cNvSpPr txBox="1"/>
          <p:nvPr/>
        </p:nvSpPr>
        <p:spPr>
          <a:xfrm>
            <a:off x="9014862" y="3226560"/>
            <a:ext cx="176003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200" b="1" dirty="0" err="1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TileLang</a:t>
            </a:r>
            <a:r>
              <a:rPr kumimoji="1" lang="en-US" altLang="zh-CN" sz="1200" b="1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Triton</a:t>
            </a:r>
            <a:endParaRPr kumimoji="1" lang="zh-CN" altLang="en-US" sz="120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699E1D-D5AC-CB6B-42F0-E8985AB04AFB}"/>
              </a:ext>
            </a:extLst>
          </p:cNvPr>
          <p:cNvSpPr/>
          <p:nvPr/>
        </p:nvSpPr>
        <p:spPr>
          <a:xfrm>
            <a:off x="8565987" y="3729480"/>
            <a:ext cx="2688336" cy="1430165"/>
          </a:xfrm>
          <a:prstGeom prst="rect">
            <a:avLst/>
          </a:prstGeom>
          <a:noFill/>
          <a:ln w="28575">
            <a:solidFill>
              <a:srgbClr val="C9B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9E45718-9B26-A63C-7AF8-2F385A0CC463}"/>
              </a:ext>
            </a:extLst>
          </p:cNvPr>
          <p:cNvSpPr txBox="1"/>
          <p:nvPr/>
        </p:nvSpPr>
        <p:spPr>
          <a:xfrm>
            <a:off x="9085080" y="3747768"/>
            <a:ext cx="169277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Specific Operator</a:t>
            </a:r>
            <a:endParaRPr kumimoji="1"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846BD7-C549-CAFA-E2C8-659600DFD177}"/>
              </a:ext>
            </a:extLst>
          </p:cNvPr>
          <p:cNvSpPr/>
          <p:nvPr/>
        </p:nvSpPr>
        <p:spPr>
          <a:xfrm>
            <a:off x="8565177" y="5443780"/>
            <a:ext cx="2688336" cy="273546"/>
          </a:xfrm>
          <a:prstGeom prst="rect">
            <a:avLst/>
          </a:prstGeom>
          <a:noFill/>
          <a:ln w="28575">
            <a:solidFill>
              <a:srgbClr val="C9B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3F00590-EAF5-8E96-EAA5-6F53B3407530}"/>
              </a:ext>
            </a:extLst>
          </p:cNvPr>
          <p:cNvSpPr txBox="1"/>
          <p:nvPr/>
        </p:nvSpPr>
        <p:spPr>
          <a:xfrm>
            <a:off x="8771174" y="5488220"/>
            <a:ext cx="224741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2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Profilling</a:t>
            </a: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Test, Debugging…</a:t>
            </a:r>
            <a:endParaRPr kumimoji="1"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CC32236D-6140-0DED-2D8B-9674E5E821ED}"/>
              </a:ext>
            </a:extLst>
          </p:cNvPr>
          <p:cNvSpPr/>
          <p:nvPr/>
        </p:nvSpPr>
        <p:spPr>
          <a:xfrm>
            <a:off x="9769619" y="2131923"/>
            <a:ext cx="281071" cy="248486"/>
          </a:xfrm>
          <a:prstGeom prst="downArrow">
            <a:avLst/>
          </a:prstGeom>
          <a:solidFill>
            <a:srgbClr val="C9B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C1B93E5-B746-D337-57AB-A4010ED543BB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2" t="19066" r="7602" b="33857"/>
          <a:stretch>
            <a:fillRect/>
          </a:stretch>
        </p:blipFill>
        <p:spPr>
          <a:xfrm>
            <a:off x="8565987" y="3979940"/>
            <a:ext cx="2688336" cy="947404"/>
          </a:xfrm>
          <a:prstGeom prst="rect">
            <a:avLst/>
          </a:prstGeom>
        </p:spPr>
      </p:pic>
      <p:sp>
        <p:nvSpPr>
          <p:cNvPr id="22" name="箭头: 下 21">
            <a:extLst>
              <a:ext uri="{FF2B5EF4-FFF2-40B4-BE49-F238E27FC236}">
                <a16:creationId xmlns:a16="http://schemas.microsoft.com/office/drawing/2014/main" id="{8B0D1668-7C70-88A5-E6B2-A914F12707FC}"/>
              </a:ext>
            </a:extLst>
          </p:cNvPr>
          <p:cNvSpPr/>
          <p:nvPr/>
        </p:nvSpPr>
        <p:spPr>
          <a:xfrm>
            <a:off x="9769618" y="3478943"/>
            <a:ext cx="281071" cy="248486"/>
          </a:xfrm>
          <a:prstGeom prst="downArrow">
            <a:avLst/>
          </a:prstGeom>
          <a:solidFill>
            <a:srgbClr val="C9B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48CAC94E-22A7-FC69-F783-14E828ED3EE6}"/>
              </a:ext>
            </a:extLst>
          </p:cNvPr>
          <p:cNvSpPr/>
          <p:nvPr/>
        </p:nvSpPr>
        <p:spPr>
          <a:xfrm>
            <a:off x="9774132" y="5187656"/>
            <a:ext cx="281071" cy="248486"/>
          </a:xfrm>
          <a:prstGeom prst="downArrow">
            <a:avLst/>
          </a:prstGeom>
          <a:solidFill>
            <a:srgbClr val="C9B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A66ECAD-23AD-C221-B980-DE42D08FCB1E}"/>
              </a:ext>
            </a:extLst>
          </p:cNvPr>
          <p:cNvSpPr txBox="1"/>
          <p:nvPr/>
        </p:nvSpPr>
        <p:spPr>
          <a:xfrm>
            <a:off x="8945067" y="4891670"/>
            <a:ext cx="207351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GEMM               </a:t>
            </a:r>
            <a:r>
              <a:rPr kumimoji="1" lang="en-US" altLang="zh-CN" sz="1200" b="1" dirty="0" err="1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SparseAttn</a:t>
            </a:r>
            <a:endParaRPr kumimoji="1" lang="zh-CN" altLang="en-US" sz="120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03883F2A-05A3-D473-71CE-DAB52106E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556902"/>
              </p:ext>
            </p:extLst>
          </p:nvPr>
        </p:nvGraphicFramePr>
        <p:xfrm>
          <a:off x="640080" y="1411616"/>
          <a:ext cx="3956526" cy="223514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78263">
                  <a:extLst>
                    <a:ext uri="{9D8B030D-6E8A-4147-A177-3AD203B41FA5}">
                      <a16:colId xmlns:a16="http://schemas.microsoft.com/office/drawing/2014/main" val="3095621625"/>
                    </a:ext>
                  </a:extLst>
                </a:gridCol>
                <a:gridCol w="1978263">
                  <a:extLst>
                    <a:ext uri="{9D8B030D-6E8A-4147-A177-3AD203B41FA5}">
                      <a16:colId xmlns:a16="http://schemas.microsoft.com/office/drawing/2014/main" val="1463923951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赛事安排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310939"/>
                  </a:ext>
                </a:extLst>
              </a:tr>
              <a:tr h="316096">
                <a:tc>
                  <a:txBody>
                    <a:bodyPr/>
                    <a:lstStyle/>
                    <a:p>
                      <a:pPr marL="0" marR="0" lvl="0" indent="0" algn="l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选手报名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065717"/>
                  </a:ext>
                </a:extLst>
              </a:tr>
              <a:tr h="27826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基础知识培训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490152"/>
                  </a:ext>
                </a:extLst>
              </a:tr>
              <a:tr h="29350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基础算子开发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986696"/>
                  </a:ext>
                </a:extLst>
              </a:tr>
              <a:tr h="35446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综合算子开发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407384"/>
                  </a:ext>
                </a:extLst>
              </a:tr>
              <a:tr h="35363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综合实验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516094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BF293CE0-D476-48C5-6364-E8E29942D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67260"/>
              </p:ext>
            </p:extLst>
          </p:nvPr>
        </p:nvGraphicFramePr>
        <p:xfrm>
          <a:off x="640080" y="3881038"/>
          <a:ext cx="6172612" cy="258878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844525">
                  <a:extLst>
                    <a:ext uri="{9D8B030D-6E8A-4147-A177-3AD203B41FA5}">
                      <a16:colId xmlns:a16="http://schemas.microsoft.com/office/drawing/2014/main" val="3095621625"/>
                    </a:ext>
                  </a:extLst>
                </a:gridCol>
                <a:gridCol w="3328087">
                  <a:extLst>
                    <a:ext uri="{9D8B030D-6E8A-4147-A177-3AD203B41FA5}">
                      <a16:colId xmlns:a16="http://schemas.microsoft.com/office/drawing/2014/main" val="1463923951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培训内容（暂定）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主讲人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310939"/>
                  </a:ext>
                </a:extLst>
              </a:tr>
              <a:tr h="316096">
                <a:tc>
                  <a:txBody>
                    <a:bodyPr/>
                    <a:lstStyle/>
                    <a:p>
                      <a:pPr marL="0" marR="0" lvl="0" indent="0" algn="l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1.22  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孙婧雯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065717"/>
                  </a:ext>
                </a:extLst>
              </a:tr>
              <a:tr h="27826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1.23  NPU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编程与达芬奇架构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周华漫（华为）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490152"/>
                  </a:ext>
                </a:extLst>
              </a:tr>
              <a:tr h="29350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1.24  NPU-Ascend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程琛（华为）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986696"/>
                  </a:ext>
                </a:extLst>
              </a:tr>
              <a:tr h="354464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1.25  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开发环境搭建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王宇航、艾琮焜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407384"/>
                  </a:ext>
                </a:extLst>
              </a:tr>
              <a:tr h="35363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1.26? Triton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蒋斌（中科院计算所）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516094"/>
                  </a:ext>
                </a:extLst>
              </a:tr>
              <a:tr h="35363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1.28? </a:t>
                      </a:r>
                      <a:r>
                        <a:rPr lang="en-US" altLang="zh-CN" sz="16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TileLang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解文浩（北大杨智教授团队）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49043"/>
                  </a:ext>
                </a:extLst>
              </a:tr>
            </a:tbl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4EF55554-E936-BEEC-CB2F-29B5F0AD9A2A}"/>
              </a:ext>
            </a:extLst>
          </p:cNvPr>
          <p:cNvSpPr txBox="1"/>
          <p:nvPr/>
        </p:nvSpPr>
        <p:spPr>
          <a:xfrm>
            <a:off x="82746" y="3570703"/>
            <a:ext cx="62196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🔗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94E13C86-CDE9-76E1-778E-E86743CE0B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0939" y="1754845"/>
            <a:ext cx="916332" cy="29559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40080" y="1432132"/>
            <a:ext cx="11365448" cy="1407730"/>
          </a:xfrm>
        </p:spPr>
        <p:txBody>
          <a:bodyPr lIns="90000" tIns="46800" rIns="90000" bIns="46800" rtlCol="0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0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zh-CN" sz="20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Graphics Processing Unit</a:t>
            </a: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0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Neural network Processing Unit</a:t>
            </a:r>
            <a:endParaRPr kumimoji="0" lang="en-US" altLang="zh-CN" sz="20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GPU&amp;NPU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5070DB-5D8B-BC8E-B36E-6DD07AF6A1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43" t="18500" r="24933" b="41388"/>
          <a:stretch>
            <a:fillRect/>
          </a:stretch>
        </p:blipFill>
        <p:spPr>
          <a:xfrm>
            <a:off x="297581" y="3194870"/>
            <a:ext cx="7116256" cy="3289115"/>
          </a:xfrm>
          <a:prstGeom prst="rect">
            <a:avLst/>
          </a:prstGeom>
        </p:spPr>
      </p:pic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96532557-C352-FFAF-A812-CF75C11F40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837" y="3194870"/>
            <a:ext cx="4591691" cy="293410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343D5-442B-E558-34DA-6DF25128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5D2D8C-7ACC-88A5-9D03-C220DD4B896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79450" y="1524000"/>
            <a:ext cx="4362107" cy="4214215"/>
          </a:xfrm>
        </p:spPr>
        <p:txBody>
          <a:bodyPr lIns="90000" tIns="46800" rIns="90000" bIns="46800" rtlCol="0">
            <a:normAutofit/>
          </a:bodyPr>
          <a:lstStyle/>
          <a:p>
            <a:pPr marL="0" indent="0">
              <a:buFont typeface="Wingdings" panose="05000000000000000000" charset="0"/>
              <a:buChar char="Ø"/>
            </a:pPr>
            <a:r>
              <a:rPr kumimoji="0" lang="en-US" altLang="zh-CN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dirty="0">
                <a:hlinkClick r:id="rId4"/>
              </a:rPr>
              <a:t>NVIDIA Hopper Architecture In-Depth | NVIDIA Technical Blog</a:t>
            </a:r>
            <a:endParaRPr lang="en-US" altLang="zh-CN" dirty="0"/>
          </a:p>
          <a:p>
            <a:pPr marL="0" indent="0">
              <a:buNone/>
            </a:pPr>
            <a:endParaRPr kumimoji="0" lang="en-US" altLang="zh-CN" sz="16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EF5501C6-FB91-7FD7-718D-A0769508E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33F0610-A9A3-BF79-B952-6D7654AB990F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2FDA0DB-6A61-71BF-3EAB-43ED6CEE9534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GPU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EB4A176-3576-2B6F-5489-537C02982400}"/>
              </a:ext>
            </a:extLst>
          </p:cNvPr>
          <p:cNvPicPr>
            <a:picLocks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5" t="11229" r="14544" b="8203"/>
          <a:stretch>
            <a:fillRect/>
          </a:stretch>
        </p:blipFill>
        <p:spPr bwMode="auto">
          <a:xfrm>
            <a:off x="5464433" y="1339216"/>
            <a:ext cx="5609967" cy="439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497B16F-A32F-6AB2-D42F-CAA88808DE74}"/>
              </a:ext>
            </a:extLst>
          </p:cNvPr>
          <p:cNvSpPr txBox="1"/>
          <p:nvPr/>
        </p:nvSpPr>
        <p:spPr>
          <a:xfrm>
            <a:off x="3262183" y="3344562"/>
            <a:ext cx="20698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n-lt"/>
                <a:ea typeface="黑体" panose="02010609060101010101" pitchFamily="49" charset="-122"/>
              </a:rPr>
              <a:t>Global Memory</a:t>
            </a:r>
          </a:p>
          <a:p>
            <a:r>
              <a:rPr lang="en-US" altLang="zh-CN" dirty="0">
                <a:latin typeface="+mn-lt"/>
                <a:ea typeface="黑体" panose="02010609060101010101" pitchFamily="49" charset="-122"/>
              </a:rPr>
              <a:t>Off-chip</a:t>
            </a:r>
          </a:p>
          <a:p>
            <a:r>
              <a:rPr lang="en-US" altLang="zh-CN" dirty="0" err="1">
                <a:latin typeface="+mn-lt"/>
                <a:ea typeface="黑体" panose="02010609060101010101" pitchFamily="49" charset="-122"/>
              </a:rPr>
              <a:t>PyTorch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 lives here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DD8ED3D-F8B5-D887-7B88-DA6A7F78840A}"/>
              </a:ext>
            </a:extLst>
          </p:cNvPr>
          <p:cNvCxnSpPr/>
          <p:nvPr/>
        </p:nvCxnSpPr>
        <p:spPr>
          <a:xfrm flipH="1">
            <a:off x="4959178" y="3196281"/>
            <a:ext cx="2290119" cy="60994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6BE2467-14A3-C852-EF55-D21D704804C0}"/>
              </a:ext>
            </a:extLst>
          </p:cNvPr>
          <p:cNvSpPr txBox="1"/>
          <p:nvPr/>
        </p:nvSpPr>
        <p:spPr>
          <a:xfrm>
            <a:off x="3262183" y="4541388"/>
            <a:ext cx="2069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n-lt"/>
                <a:ea typeface="黑体" panose="02010609060101010101" pitchFamily="49" charset="-122"/>
              </a:rPr>
              <a:t>On-chip</a:t>
            </a:r>
          </a:p>
          <a:p>
            <a:r>
              <a:rPr lang="en-US" altLang="zh-CN" dirty="0">
                <a:latin typeface="+mn-lt"/>
                <a:ea typeface="黑体" panose="02010609060101010101" pitchFamily="49" charset="-122"/>
              </a:rPr>
              <a:t>Triton lives here</a:t>
            </a:r>
          </a:p>
          <a:p>
            <a:r>
              <a:rPr lang="en-US" altLang="zh-CN" dirty="0">
                <a:latin typeface="+mn-lt"/>
                <a:ea typeface="黑体" panose="02010609060101010101" pitchFamily="49" charset="-122"/>
              </a:rPr>
              <a:t>Finer block control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6B1F6BD-4D0C-E863-565B-4291299654D1}"/>
              </a:ext>
            </a:extLst>
          </p:cNvPr>
          <p:cNvCxnSpPr>
            <a:cxnSpLocks/>
          </p:cNvCxnSpPr>
          <p:nvPr/>
        </p:nvCxnSpPr>
        <p:spPr>
          <a:xfrm flipH="1" flipV="1">
            <a:off x="4950940" y="4834868"/>
            <a:ext cx="2298357" cy="4991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997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3B3CF-8A9E-62B3-5DA6-BAE90ADFA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7E7E43-4D53-694F-59E9-57D793E31C0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013" y="1490663"/>
            <a:ext cx="10969625" cy="4759325"/>
          </a:xfrm>
        </p:spPr>
        <p:txBody>
          <a:bodyPr lIns="90000" tIns="46800" rIns="90000" bIns="46800" rtlCol="0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0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zh-CN" sz="24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is an “operator”?</a:t>
            </a: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en-US" altLang="zh-CN" sz="20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Neither a function, nor a line of code</a:t>
            </a:r>
          </a:p>
          <a:p>
            <a:pPr marL="0" indent="0">
              <a:buFont typeface="Wingdings" panose="05000000000000000000" charset="0"/>
              <a:buChar char="Ø"/>
            </a:pPr>
            <a:endParaRPr lang="en-US" altLang="zh-CN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en-US" altLang="zh-CN" sz="20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lang="en-US" altLang="zh-CN" sz="20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lang="en-US" altLang="zh-CN" sz="20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kumimoji="0" lang="en-US" altLang="zh-CN" sz="20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940924A0-1E44-4E40-AF0B-97B6A3014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2092EFC-2DA7-E522-0EF0-11AA4FFCD808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C7F4F01-D682-1E1A-2B31-667A1595E634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Operator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图片 3" descr="图形用户界面, 文本&#10;&#10;AI 生成的内容可能不正确。">
            <a:extLst>
              <a:ext uri="{FF2B5EF4-FFF2-40B4-BE49-F238E27FC236}">
                <a16:creationId xmlns:a16="http://schemas.microsoft.com/office/drawing/2014/main" id="{75F9794E-55CC-DE1C-845B-10C34ABAA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533" y="1467143"/>
            <a:ext cx="3638622" cy="14528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88464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A00CC-AD8A-B133-452C-8A0194A6F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958F49-2B08-FCFC-4E18-5708F9EB8CEC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013" y="1490663"/>
            <a:ext cx="10969625" cy="4759325"/>
          </a:xfrm>
        </p:spPr>
        <p:txBody>
          <a:bodyPr lIns="90000" tIns="46800" rIns="90000" bIns="46800" rtlCol="0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0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zh-CN" sz="24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is an “operator”?</a:t>
            </a: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en-US" altLang="zh-CN" sz="20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Neither a function, nor a line of code</a:t>
            </a:r>
          </a:p>
          <a:p>
            <a:pPr marL="0" indent="0">
              <a:buFont typeface="Wingdings" panose="05000000000000000000" charset="0"/>
              <a:buChar char="Ø"/>
            </a:pPr>
            <a:r>
              <a:rPr lang="en-US" altLang="zh-CN" sz="2000" noProof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“Computation Architecture”?</a:t>
            </a:r>
          </a:p>
          <a:p>
            <a:pPr marL="0" indent="0">
              <a:buNone/>
            </a:pPr>
            <a:r>
              <a:rPr lang="zh-CN" altLang="en-US" dirty="0">
                <a:hlinkClick r:id="rId4"/>
              </a:rPr>
              <a:t>从英伟达</a:t>
            </a:r>
            <a:r>
              <a:rPr lang="en-US" altLang="zh-CN" dirty="0">
                <a:hlinkClick r:id="rId4"/>
              </a:rPr>
              <a:t>CUDA</a:t>
            </a:r>
            <a:r>
              <a:rPr lang="zh-CN" altLang="en-US" dirty="0">
                <a:hlinkClick r:id="rId4"/>
              </a:rPr>
              <a:t>到昇腾</a:t>
            </a:r>
            <a:r>
              <a:rPr lang="en-US" altLang="zh-CN" dirty="0">
                <a:hlinkClick r:id="rId4"/>
              </a:rPr>
              <a:t>CANN</a:t>
            </a:r>
            <a:r>
              <a:rPr lang="zh-CN" altLang="en-US" dirty="0">
                <a:hlinkClick r:id="rId4"/>
              </a:rPr>
              <a:t>，计算架构为何这么重要？</a:t>
            </a:r>
            <a:r>
              <a:rPr lang="en-US" altLang="zh-CN" dirty="0">
                <a:hlinkClick r:id="rId4"/>
              </a:rPr>
              <a:t>_</a:t>
            </a:r>
            <a:r>
              <a:rPr lang="zh-CN" altLang="en-US" dirty="0">
                <a:hlinkClick r:id="rId4"/>
              </a:rPr>
              <a:t>哔哩哔哩</a:t>
            </a:r>
            <a:r>
              <a:rPr lang="en-US" altLang="zh-CN" dirty="0">
                <a:hlinkClick r:id="rId4"/>
              </a:rPr>
              <a:t>_</a:t>
            </a:r>
            <a:r>
              <a:rPr lang="en-US" altLang="zh-CN" dirty="0" err="1">
                <a:hlinkClick r:id="rId4"/>
              </a:rPr>
              <a:t>bilibili</a:t>
            </a:r>
            <a:endParaRPr lang="en-US" altLang="zh-CN" dirty="0"/>
          </a:p>
          <a:p>
            <a:pPr marL="0" indent="0">
              <a:buNone/>
            </a:pPr>
            <a:endParaRPr lang="en-US" altLang="zh-CN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en-US" altLang="zh-CN" sz="20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lang="en-US" altLang="zh-CN" sz="20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lang="en-US" altLang="zh-CN" sz="20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kumimoji="0" lang="en-US" altLang="zh-CN" sz="20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182E9F70-A7EC-C4D2-F835-107687548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16E126-5772-2EED-2B3C-7F5E8605B5FA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5C4970C-A00F-D957-05F6-B8F2892DCED4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Operator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图片 3" descr="图形用户界面, 文本&#10;&#10;AI 生成的内容可能不正确。">
            <a:extLst>
              <a:ext uri="{FF2B5EF4-FFF2-40B4-BE49-F238E27FC236}">
                <a16:creationId xmlns:a16="http://schemas.microsoft.com/office/drawing/2014/main" id="{54C535AF-9F0D-7205-CB3D-5F7B863A6A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533" y="1467143"/>
            <a:ext cx="3638622" cy="14528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056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37A48-9525-2577-466C-C642EF44B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350AC5-33C5-6E16-643D-7FC647A5F6D7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013" y="1490663"/>
            <a:ext cx="10969625" cy="4759325"/>
          </a:xfrm>
        </p:spPr>
        <p:txBody>
          <a:bodyPr lIns="90000" tIns="46800" rIns="90000" bIns="46800" rtlCol="0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0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zh-CN" sz="24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is an “operator”?</a:t>
            </a: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en-US" altLang="zh-CN" sz="20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Neither a function, nor a line of code</a:t>
            </a:r>
          </a:p>
          <a:p>
            <a:pPr marL="0" indent="0">
              <a:buFont typeface="Wingdings" panose="05000000000000000000" charset="0"/>
              <a:buChar char="Ø"/>
            </a:pPr>
            <a:r>
              <a:rPr lang="en-US" altLang="zh-CN" sz="2000" noProof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“Computation Architecture”?</a:t>
            </a:r>
          </a:p>
          <a:p>
            <a:pPr marL="0" indent="0">
              <a:buNone/>
            </a:pPr>
            <a:r>
              <a:rPr lang="zh-CN" altLang="en-US" dirty="0">
                <a:hlinkClick r:id="rId4"/>
              </a:rPr>
              <a:t>从英伟达</a:t>
            </a:r>
            <a:r>
              <a:rPr lang="en-US" altLang="zh-CN" dirty="0">
                <a:hlinkClick r:id="rId4"/>
              </a:rPr>
              <a:t>CUDA</a:t>
            </a:r>
            <a:r>
              <a:rPr lang="zh-CN" altLang="en-US" dirty="0">
                <a:hlinkClick r:id="rId4"/>
              </a:rPr>
              <a:t>到昇腾</a:t>
            </a:r>
            <a:r>
              <a:rPr lang="en-US" altLang="zh-CN" dirty="0">
                <a:hlinkClick r:id="rId4"/>
              </a:rPr>
              <a:t>CANN</a:t>
            </a:r>
            <a:r>
              <a:rPr lang="zh-CN" altLang="en-US" dirty="0">
                <a:hlinkClick r:id="rId4"/>
              </a:rPr>
              <a:t>，计算架构为何这么重要？</a:t>
            </a:r>
            <a:r>
              <a:rPr lang="en-US" altLang="zh-CN" dirty="0">
                <a:hlinkClick r:id="rId4"/>
              </a:rPr>
              <a:t>_</a:t>
            </a:r>
            <a:r>
              <a:rPr lang="zh-CN" altLang="en-US" dirty="0">
                <a:hlinkClick r:id="rId4"/>
              </a:rPr>
              <a:t>哔哩哔哩</a:t>
            </a:r>
            <a:r>
              <a:rPr lang="en-US" altLang="zh-CN" dirty="0">
                <a:hlinkClick r:id="rId4"/>
              </a:rPr>
              <a:t>_</a:t>
            </a:r>
            <a:r>
              <a:rPr lang="en-US" altLang="zh-CN" dirty="0" err="1">
                <a:hlinkClick r:id="rId4"/>
              </a:rPr>
              <a:t>bilibili</a:t>
            </a:r>
            <a:endParaRPr lang="en-US" altLang="zh-CN" dirty="0"/>
          </a:p>
          <a:p>
            <a:pPr marL="0" indent="0">
              <a:buNone/>
            </a:pPr>
            <a:endParaRPr lang="en-US" altLang="zh-CN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en-US" altLang="zh-CN" sz="20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lang="en-US" altLang="zh-CN" sz="20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lang="en-US" altLang="zh-CN" sz="20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kumimoji="0" lang="en-US" altLang="zh-CN" sz="20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D70C93D7-9F83-6933-B742-83636109A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7734494-233C-92E0-02F3-55B3F626C95D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CD91D76-040D-81D3-46F1-22FC2265C9C0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Operator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图片 3" descr="图形用户界面, 文本&#10;&#10;AI 生成的内容可能不正确。">
            <a:extLst>
              <a:ext uri="{FF2B5EF4-FFF2-40B4-BE49-F238E27FC236}">
                <a16:creationId xmlns:a16="http://schemas.microsoft.com/office/drawing/2014/main" id="{CF25E3E9-B216-132C-3A04-1F535B62B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533" y="1467143"/>
            <a:ext cx="3638622" cy="1452831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6DB47CA-54A7-A103-693F-3C8F831789CD}"/>
              </a:ext>
            </a:extLst>
          </p:cNvPr>
          <p:cNvSpPr/>
          <p:nvPr/>
        </p:nvSpPr>
        <p:spPr>
          <a:xfrm>
            <a:off x="997731" y="4279438"/>
            <a:ext cx="1506062" cy="770021"/>
          </a:xfrm>
          <a:prstGeom prst="roundRect">
            <a:avLst/>
          </a:prstGeom>
          <a:solidFill>
            <a:srgbClr val="F0F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code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52B7C87-CE7E-73B9-AC3A-4AEAE68159EB}"/>
              </a:ext>
            </a:extLst>
          </p:cNvPr>
          <p:cNvSpPr/>
          <p:nvPr/>
        </p:nvSpPr>
        <p:spPr>
          <a:xfrm>
            <a:off x="3064320" y="4279437"/>
            <a:ext cx="1506063" cy="770021"/>
          </a:xfrm>
          <a:prstGeom prst="roundRect">
            <a:avLst/>
          </a:prstGeom>
          <a:solidFill>
            <a:srgbClr val="F0F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computation graph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9F674BC-73E2-7C7C-852E-71E0000E4645}"/>
              </a:ext>
            </a:extLst>
          </p:cNvPr>
          <p:cNvSpPr/>
          <p:nvPr/>
        </p:nvSpPr>
        <p:spPr>
          <a:xfrm>
            <a:off x="5130910" y="4279437"/>
            <a:ext cx="1506063" cy="770021"/>
          </a:xfrm>
          <a:prstGeom prst="roundRect">
            <a:avLst/>
          </a:prstGeom>
          <a:solidFill>
            <a:srgbClr val="F0F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operator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5A3B245-3C8A-CC32-DE2C-DB59E2FCAC59}"/>
              </a:ext>
            </a:extLst>
          </p:cNvPr>
          <p:cNvSpPr/>
          <p:nvPr/>
        </p:nvSpPr>
        <p:spPr>
          <a:xfrm>
            <a:off x="7197501" y="4279437"/>
            <a:ext cx="1506064" cy="770021"/>
          </a:xfrm>
          <a:prstGeom prst="roundRect">
            <a:avLst/>
          </a:prstGeom>
          <a:solidFill>
            <a:srgbClr val="F0F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kernel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F44BD34-BE78-2E73-89A5-2862ECEE68EC}"/>
              </a:ext>
            </a:extLst>
          </p:cNvPr>
          <p:cNvSpPr/>
          <p:nvPr/>
        </p:nvSpPr>
        <p:spPr>
          <a:xfrm>
            <a:off x="9264093" y="4279436"/>
            <a:ext cx="1506063" cy="770021"/>
          </a:xfrm>
          <a:prstGeom prst="roundRect">
            <a:avLst/>
          </a:prstGeom>
          <a:solidFill>
            <a:srgbClr val="F0F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GPU/NPU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inst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439A97C-C763-BCB8-48D9-0C0C4F023B49}"/>
              </a:ext>
            </a:extLst>
          </p:cNvPr>
          <p:cNvCxnSpPr>
            <a:endCxn id="8" idx="1"/>
          </p:cNvCxnSpPr>
          <p:nvPr/>
        </p:nvCxnSpPr>
        <p:spPr>
          <a:xfrm flipV="1">
            <a:off x="2503793" y="4664448"/>
            <a:ext cx="560527" cy="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1664C8A-D79E-6DEA-12F5-383B12EB04C3}"/>
              </a:ext>
            </a:extLst>
          </p:cNvPr>
          <p:cNvCxnSpPr/>
          <p:nvPr/>
        </p:nvCxnSpPr>
        <p:spPr>
          <a:xfrm flipV="1">
            <a:off x="4570383" y="4664446"/>
            <a:ext cx="560527" cy="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83D45D2-B7E4-81C9-4481-170D51ACD5E4}"/>
              </a:ext>
            </a:extLst>
          </p:cNvPr>
          <p:cNvCxnSpPr/>
          <p:nvPr/>
        </p:nvCxnSpPr>
        <p:spPr>
          <a:xfrm flipV="1">
            <a:off x="6652988" y="4664446"/>
            <a:ext cx="560527" cy="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6793432-45E0-6C6E-C7A1-2BEB6DF7706C}"/>
              </a:ext>
            </a:extLst>
          </p:cNvPr>
          <p:cNvCxnSpPr/>
          <p:nvPr/>
        </p:nvCxnSpPr>
        <p:spPr>
          <a:xfrm flipV="1">
            <a:off x="8703565" y="4664446"/>
            <a:ext cx="560527" cy="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ADE10A5-40FD-2A64-0ACD-597678906E6D}"/>
              </a:ext>
            </a:extLst>
          </p:cNvPr>
          <p:cNvCxnSpPr/>
          <p:nvPr/>
        </p:nvCxnSpPr>
        <p:spPr>
          <a:xfrm flipV="1">
            <a:off x="10770156" y="4664441"/>
            <a:ext cx="560527" cy="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A4D839B-620C-B12D-ED6F-98E81260A8EA}"/>
              </a:ext>
            </a:extLst>
          </p:cNvPr>
          <p:cNvSpPr txBox="1"/>
          <p:nvPr/>
        </p:nvSpPr>
        <p:spPr>
          <a:xfrm>
            <a:off x="704642" y="5129256"/>
            <a:ext cx="2092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y = </a:t>
            </a:r>
            <a:r>
              <a:rPr lang="en-US" altLang="zh-CN" sz="1600" dirty="0" err="1">
                <a:latin typeface="Consolas" panose="020B0609020204030204" pitchFamily="49" charset="0"/>
              </a:rPr>
              <a:t>torch.relu</a:t>
            </a:r>
            <a:r>
              <a:rPr lang="en-US" altLang="zh-CN" sz="1600" dirty="0">
                <a:latin typeface="Consolas" panose="020B0609020204030204" pitchFamily="49" charset="0"/>
              </a:rPr>
              <a:t>(x)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5CAF62-8AB8-F9AC-B395-59DA9C967EC3}"/>
              </a:ext>
            </a:extLst>
          </p:cNvPr>
          <p:cNvSpPr txBox="1"/>
          <p:nvPr/>
        </p:nvSpPr>
        <p:spPr>
          <a:xfrm>
            <a:off x="2939546" y="5129256"/>
            <a:ext cx="1755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x -&gt; </a:t>
            </a:r>
            <a:r>
              <a:rPr lang="en-US" altLang="zh-CN" sz="1600" dirty="0" err="1">
                <a:latin typeface="Consolas" panose="020B0609020204030204" pitchFamily="49" charset="0"/>
              </a:rPr>
              <a:t>ReLU</a:t>
            </a:r>
            <a:r>
              <a:rPr lang="en-US" altLang="zh-CN" sz="1600" dirty="0">
                <a:latin typeface="Consolas" panose="020B0609020204030204" pitchFamily="49" charset="0"/>
              </a:rPr>
              <a:t> -&gt; y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6F6C4C-57C4-39B0-A38D-DD43C44A519C}"/>
              </a:ext>
            </a:extLst>
          </p:cNvPr>
          <p:cNvSpPr txBox="1"/>
          <p:nvPr/>
        </p:nvSpPr>
        <p:spPr>
          <a:xfrm>
            <a:off x="5006136" y="5112583"/>
            <a:ext cx="2053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An op Instance</a:t>
            </a:r>
          </a:p>
          <a:p>
            <a:endParaRPr lang="en-US" altLang="zh-CN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dtype?shape?device</a:t>
            </a:r>
            <a:r>
              <a:rPr lang="en-US" altLang="zh-CN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?...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EEC06C-3752-B1C9-FAFB-107E5F973BAC}"/>
              </a:ext>
            </a:extLst>
          </p:cNvPr>
          <p:cNvSpPr txBox="1"/>
          <p:nvPr/>
        </p:nvSpPr>
        <p:spPr>
          <a:xfrm>
            <a:off x="6979604" y="5105379"/>
            <a:ext cx="2272043" cy="1668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onsolas" panose="020B0609020204030204" pitchFamily="49" charset="0"/>
              </a:rPr>
              <a:t>__global__ void xxx(</a:t>
            </a:r>
            <a:r>
              <a:rPr lang="en-US" altLang="zh-CN" sz="1100" dirty="0" err="1">
                <a:latin typeface="Consolas" panose="020B0609020204030204" pitchFamily="49" charset="0"/>
              </a:rPr>
              <a:t>fl</a:t>
            </a:r>
            <a:r>
              <a:rPr lang="en-US" altLang="zh-CN" sz="1100" dirty="0">
                <a:latin typeface="Consolas" panose="020B0609020204030204" pitchFamily="49" charset="0"/>
              </a:rPr>
              <a:t>* x, </a:t>
            </a:r>
            <a:r>
              <a:rPr lang="en-US" altLang="zh-CN" sz="1100" dirty="0" err="1">
                <a:latin typeface="Consolas" panose="020B0609020204030204" pitchFamily="49" charset="0"/>
              </a:rPr>
              <a:t>fl</a:t>
            </a:r>
            <a:r>
              <a:rPr lang="en-US" altLang="zh-CN" sz="1100" dirty="0">
                <a:latin typeface="Consolas" panose="020B0609020204030204" pitchFamily="49" charset="0"/>
              </a:rPr>
              <a:t>* y, int n) {</a:t>
            </a:r>
          </a:p>
          <a:p>
            <a:r>
              <a:rPr lang="en-US" altLang="zh-CN" sz="1100" dirty="0">
                <a:latin typeface="Consolas" panose="020B0609020204030204" pitchFamily="49" charset="0"/>
              </a:rPr>
              <a:t>    int </a:t>
            </a:r>
            <a:r>
              <a:rPr lang="en-US" altLang="zh-CN" sz="1100" dirty="0" err="1">
                <a:latin typeface="Consolas" panose="020B0609020204030204" pitchFamily="49" charset="0"/>
              </a:rPr>
              <a:t>idx</a:t>
            </a:r>
            <a:r>
              <a:rPr lang="en-US" altLang="zh-CN" sz="1100" dirty="0">
                <a:latin typeface="Consolas" panose="020B0609020204030204" pitchFamily="49" charset="0"/>
              </a:rPr>
              <a:t> = </a:t>
            </a:r>
            <a:r>
              <a:rPr lang="en-US" altLang="zh-CN" sz="1100" dirty="0" err="1">
                <a:latin typeface="Consolas" panose="020B0609020204030204" pitchFamily="49" charset="0"/>
              </a:rPr>
              <a:t>blockIdx.x</a:t>
            </a:r>
            <a:r>
              <a:rPr lang="en-US" altLang="zh-CN" sz="1100" dirty="0">
                <a:latin typeface="Consolas" panose="020B0609020204030204" pitchFamily="49" charset="0"/>
              </a:rPr>
              <a:t> * </a:t>
            </a:r>
            <a:r>
              <a:rPr lang="en-US" altLang="zh-CN" sz="1100" dirty="0" err="1">
                <a:latin typeface="Consolas" panose="020B0609020204030204" pitchFamily="49" charset="0"/>
              </a:rPr>
              <a:t>blockDim.x</a:t>
            </a:r>
            <a:r>
              <a:rPr lang="en-US" altLang="zh-CN" sz="1100" dirty="0">
                <a:latin typeface="Consolas" panose="020B0609020204030204" pitchFamily="49" charset="0"/>
              </a:rPr>
              <a:t> + </a:t>
            </a:r>
            <a:r>
              <a:rPr lang="en-US" altLang="zh-CN" sz="1100" dirty="0" err="1">
                <a:latin typeface="Consolas" panose="020B0609020204030204" pitchFamily="49" charset="0"/>
              </a:rPr>
              <a:t>threadIdx.x</a:t>
            </a:r>
            <a:r>
              <a:rPr lang="en-US" altLang="zh-CN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100" dirty="0">
                <a:latin typeface="Consolas" panose="020B0609020204030204" pitchFamily="49" charset="0"/>
              </a:rPr>
              <a:t>    if (</a:t>
            </a:r>
            <a:r>
              <a:rPr lang="en-US" altLang="zh-CN" sz="1100" dirty="0" err="1">
                <a:latin typeface="Consolas" panose="020B0609020204030204" pitchFamily="49" charset="0"/>
              </a:rPr>
              <a:t>idx</a:t>
            </a:r>
            <a:r>
              <a:rPr lang="en-US" altLang="zh-CN" sz="1100" dirty="0">
                <a:latin typeface="Consolas" panose="020B0609020204030204" pitchFamily="49" charset="0"/>
              </a:rPr>
              <a:t> &lt; n) {</a:t>
            </a:r>
          </a:p>
          <a:p>
            <a:r>
              <a:rPr lang="en-US" altLang="zh-CN" sz="1100" dirty="0">
                <a:latin typeface="Consolas" panose="020B0609020204030204" pitchFamily="49" charset="0"/>
              </a:rPr>
              <a:t>        y[</a:t>
            </a:r>
            <a:r>
              <a:rPr lang="en-US" altLang="zh-CN" sz="1100" dirty="0" err="1">
                <a:latin typeface="Consolas" panose="020B0609020204030204" pitchFamily="49" charset="0"/>
              </a:rPr>
              <a:t>idx</a:t>
            </a:r>
            <a:r>
              <a:rPr lang="en-US" altLang="zh-CN" sz="1100" dirty="0">
                <a:latin typeface="Consolas" panose="020B0609020204030204" pitchFamily="49" charset="0"/>
              </a:rPr>
              <a:t>] = x[</a:t>
            </a:r>
            <a:r>
              <a:rPr lang="en-US" altLang="zh-CN" sz="1100" dirty="0" err="1">
                <a:latin typeface="Consolas" panose="020B0609020204030204" pitchFamily="49" charset="0"/>
              </a:rPr>
              <a:t>idx</a:t>
            </a:r>
            <a:r>
              <a:rPr lang="en-US" altLang="zh-CN" sz="1100" dirty="0">
                <a:latin typeface="Consolas" panose="020B0609020204030204" pitchFamily="49" charset="0"/>
              </a:rPr>
              <a:t>] &gt; 0 ? x[</a:t>
            </a:r>
            <a:r>
              <a:rPr lang="en-US" altLang="zh-CN" sz="1100" dirty="0" err="1">
                <a:latin typeface="Consolas" panose="020B0609020204030204" pitchFamily="49" charset="0"/>
              </a:rPr>
              <a:t>idx</a:t>
            </a:r>
            <a:r>
              <a:rPr lang="en-US" altLang="zh-CN" sz="1100" dirty="0">
                <a:latin typeface="Consolas" panose="020B0609020204030204" pitchFamily="49" charset="0"/>
              </a:rPr>
              <a:t>] : 0;</a:t>
            </a:r>
          </a:p>
          <a:p>
            <a:r>
              <a:rPr lang="en-US" altLang="zh-CN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sz="11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29CD7AC-AF19-11B5-A154-07A6930D6D95}"/>
              </a:ext>
            </a:extLst>
          </p:cNvPr>
          <p:cNvSpPr txBox="1"/>
          <p:nvPr/>
        </p:nvSpPr>
        <p:spPr>
          <a:xfrm>
            <a:off x="9396062" y="5129256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altLang="zh-CN" sz="1200" dirty="0">
                <a:latin typeface="Consolas" panose="020B0609020204030204" pitchFamily="49" charset="0"/>
              </a:rPr>
              <a:t>LOAD   x[i]</a:t>
            </a:r>
          </a:p>
          <a:p>
            <a:r>
              <a:rPr lang="nn-NO" altLang="zh-CN" sz="1200" dirty="0">
                <a:latin typeface="Consolas" panose="020B0609020204030204" pitchFamily="49" charset="0"/>
              </a:rPr>
              <a:t>MAX    x[i], 0</a:t>
            </a:r>
          </a:p>
          <a:p>
            <a:r>
              <a:rPr lang="nn-NO" altLang="zh-CN" sz="1200" dirty="0">
                <a:latin typeface="Consolas" panose="020B0609020204030204" pitchFamily="49" charset="0"/>
              </a:rPr>
              <a:t>STORE  y[i]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4B628C5-C967-C443-B5CA-071F1A3B3B6B}"/>
              </a:ext>
            </a:extLst>
          </p:cNvPr>
          <p:cNvSpPr txBox="1"/>
          <p:nvPr/>
        </p:nvSpPr>
        <p:spPr>
          <a:xfrm>
            <a:off x="8578347" y="3747384"/>
            <a:ext cx="9701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compile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launch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E1FF030-739D-2B2D-2F9D-8F68C2FD022B}"/>
              </a:ext>
            </a:extLst>
          </p:cNvPr>
          <p:cNvSpPr txBox="1"/>
          <p:nvPr/>
        </p:nvSpPr>
        <p:spPr>
          <a:xfrm>
            <a:off x="6438430" y="3932549"/>
            <a:ext cx="108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parallel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565620-E6DA-FDB7-2AA6-525CCFB033F0}"/>
              </a:ext>
            </a:extLst>
          </p:cNvPr>
          <p:cNvSpPr txBox="1"/>
          <p:nvPr/>
        </p:nvSpPr>
        <p:spPr>
          <a:xfrm>
            <a:off x="4321949" y="3917656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mapping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AD8A41-5C47-79DE-7880-AA57613C4B51}"/>
              </a:ext>
            </a:extLst>
          </p:cNvPr>
          <p:cNvSpPr txBox="1"/>
          <p:nvPr/>
        </p:nvSpPr>
        <p:spPr>
          <a:xfrm>
            <a:off x="2156704" y="3917655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translate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747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BF2DF-D134-BF60-5EAB-3DE1A044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A21A8-4183-CAF4-6AB8-B88765EF1208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44371" y="1466600"/>
            <a:ext cx="9330071" cy="4759325"/>
          </a:xfrm>
        </p:spPr>
        <p:txBody>
          <a:bodyPr lIns="90000" tIns="46800" rIns="90000" bIns="46800" rtlCol="0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4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AI acceleration</a:t>
            </a:r>
          </a:p>
          <a:p>
            <a:pPr marL="0" indent="0">
              <a:buFont typeface="Wingdings" panose="05000000000000000000" charset="0"/>
              <a:buChar char="Ø"/>
            </a:pPr>
            <a:r>
              <a:rPr lang="en-US" altLang="zh-CN" sz="2400" dirty="0">
                <a:solidFill>
                  <a:schemeClr val="tx1"/>
                </a:solidFill>
              </a:rPr>
              <a:t> Reduced Memory Access</a:t>
            </a:r>
          </a:p>
          <a:p>
            <a:pPr marL="0" indent="0">
              <a:buFont typeface="Wingdings" panose="05000000000000000000" charset="0"/>
              <a:buChar char="Ø"/>
            </a:pPr>
            <a:r>
              <a:rPr lang="en-US" altLang="zh-CN" sz="2400" dirty="0">
                <a:solidFill>
                  <a:schemeClr val="tx1"/>
                </a:solidFill>
              </a:rPr>
              <a:t> Better Hardware Utilization</a:t>
            </a:r>
          </a:p>
          <a:p>
            <a:pPr marL="0" indent="0">
              <a:buFont typeface="Wingdings" panose="05000000000000000000" charset="0"/>
              <a:buChar char="Ø"/>
            </a:pPr>
            <a:r>
              <a:rPr lang="en-US" altLang="zh-CN" sz="2400" dirty="0">
                <a:solidFill>
                  <a:schemeClr val="tx1"/>
                </a:solidFill>
              </a:rPr>
              <a:t> Enable New Model Designs</a:t>
            </a:r>
          </a:p>
          <a:p>
            <a:pPr marL="0" indent="0">
              <a:buFont typeface="Wingdings" panose="05000000000000000000" charset="0"/>
              <a:buChar char="Ø"/>
            </a:pPr>
            <a:r>
              <a:rPr lang="en-US" altLang="zh-CN" sz="2400" dirty="0">
                <a:solidFill>
                  <a:schemeClr val="tx1"/>
                </a:solidFill>
              </a:rPr>
              <a:t> Operator Fusion</a:t>
            </a:r>
            <a:endParaRPr kumimoji="0" lang="en-US" altLang="zh-CN" sz="24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522F3E95-3215-118D-964F-473BF7543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F4F6BEB-AC61-C5AA-DB62-93162072EDCA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EEB0CA5-D72B-BAF1-B89B-34D23ECDA61F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Operator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308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EED75-F5B2-B722-36AD-9974E291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FC33F-E1F3-AAF4-48BD-AC6AC0C4FA9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11187" y="1339216"/>
            <a:ext cx="10969625" cy="4759325"/>
          </a:xfrm>
        </p:spPr>
        <p:txBody>
          <a:bodyPr lIns="90000" tIns="46800" rIns="90000" bIns="46800" rtlCol="0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Different dev languages:</a:t>
            </a: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2FF6D0C4-FF87-EE6F-0895-3F451D12E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ED1C840-A67D-D0C0-03D4-C034601142D2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6671307-9AC9-59F7-6D1A-43027B7114A9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Languages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D99591-EC66-0FB0-6F56-A1B2C9978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03" y="2667495"/>
            <a:ext cx="781056" cy="80963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4E24633-DD19-3D0B-EE90-AAB7EFEB33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7062" y="2857028"/>
            <a:ext cx="1544642" cy="4305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E32294-E6A3-6E5B-5D08-43918767F8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4506" y="2633846"/>
            <a:ext cx="2717493" cy="843280"/>
          </a:xfrm>
          <a:prstGeom prst="rect">
            <a:avLst/>
          </a:prstGeom>
        </p:spPr>
      </p:pic>
      <p:pic>
        <p:nvPicPr>
          <p:cNvPr id="2050" name="Picture 2" descr="DeepSeek 绕开 CUDA ？一文搞懂 CUDA 为何是英伟达的“护城河”_deepseek cuda-CSDN博客">
            <a:extLst>
              <a:ext uri="{FF2B5EF4-FFF2-40B4-BE49-F238E27FC236}">
                <a16:creationId xmlns:a16="http://schemas.microsoft.com/office/drawing/2014/main" id="{FE395133-BE90-C4BC-29DA-DA6558589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544" y="2633847"/>
            <a:ext cx="2392004" cy="870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1B977F5-2E33-C1FE-A537-8F27BD61FA32}"/>
              </a:ext>
            </a:extLst>
          </p:cNvPr>
          <p:cNvSpPr txBox="1"/>
          <p:nvPr/>
        </p:nvSpPr>
        <p:spPr>
          <a:xfrm>
            <a:off x="9876477" y="2857028"/>
            <a:ext cx="1131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hlinkClick r:id="rId9"/>
              </a:rPr>
              <a:t>cuTile</a:t>
            </a:r>
            <a:endParaRPr lang="zh-CN" alt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4533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F93F0-19AE-B463-6E95-9F61FB048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859CC739-DB65-C1B0-DE3F-780CDCB49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9379116-1765-7AF1-0D2D-A2875A7A7270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50D7CE1-E366-9E73-6A92-2BEA2A59806E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Languages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内容占位符 2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08013" y="1402432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Operator development for deep learning</a:t>
            </a:r>
          </a:p>
          <a:p>
            <a:pPr marL="457200" lvl="1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Pytorch: low performance</a:t>
            </a:r>
          </a:p>
          <a:p>
            <a:pPr marL="457200" lvl="1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Cuda C: difficult coding</a:t>
            </a:r>
          </a:p>
          <a:p>
            <a:pPr marL="0" lvl="1" indent="0">
              <a:lnSpc>
                <a:spcPct val="110000"/>
              </a:lnSpc>
              <a:buFont typeface="Wingdings" panose="05000000000000000000" charset="0"/>
              <a:buNone/>
            </a:pPr>
            <a:endParaRPr lang="en-US" altLang="zh-CN" sz="28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spc="100" noProof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Python-like</a:t>
            </a: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program language: Triton &amp; TileLang</a:t>
            </a:r>
          </a:p>
          <a:p>
            <a:pPr marL="457200" lvl="2" indent="0">
              <a:lnSpc>
                <a:spcPct val="110000"/>
              </a:lnSpc>
              <a:buFont typeface="Wingdings" panose="05000000000000000000" charset="0"/>
              <a:buChar char="Ø"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High performance</a:t>
            </a:r>
          </a:p>
          <a:p>
            <a:pPr marL="457200" lvl="2" indent="0">
              <a:lnSpc>
                <a:spcPct val="110000"/>
              </a:lnSpc>
              <a:buFont typeface="Wingdings" panose="05000000000000000000" charset="0"/>
              <a:buChar char="Ø"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Easy coding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2070" y="2141889"/>
            <a:ext cx="974725" cy="9550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5715" y="4373914"/>
            <a:ext cx="893445" cy="9207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5903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DDC32-3766-CAAE-98D5-111B6CC85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4B65DA-DBAE-F1F3-789A-2CFDE068A191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11187" y="1339216"/>
            <a:ext cx="10969625" cy="4759325"/>
          </a:xfrm>
        </p:spPr>
        <p:txBody>
          <a:bodyPr lIns="90000" tIns="46800" rIns="90000" bIns="46800" rtlCol="0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Tile(Tiling)</a:t>
            </a: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Naïve GEMM:</a:t>
            </a:r>
          </a:p>
          <a:p>
            <a:r>
              <a:rPr lang="en-US" altLang="zh-CN" sz="20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Time-consuming</a:t>
            </a:r>
          </a:p>
          <a:p>
            <a:r>
              <a:rPr kumimoji="0" lang="en-US" altLang="zh-CN" sz="20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Too la</a:t>
            </a:r>
            <a:r>
              <a:rPr lang="en-US" altLang="zh-CN" sz="20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rge to cache</a:t>
            </a:r>
          </a:p>
          <a:p>
            <a:pPr marL="0" indent="0">
              <a:buNone/>
            </a:pPr>
            <a:r>
              <a:rPr lang="zh-CN" altLang="en-US" sz="36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🤔</a:t>
            </a:r>
            <a:endParaRPr kumimoji="0" lang="en-US" altLang="zh-CN" sz="36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E4B45C00-61F3-C390-18F0-C57169896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B1A7456-EC39-C3AE-BCCE-C393BB3A4FEC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C43F08A0-98CB-8575-C2A3-F63196A9D586}"/>
              </a:ext>
            </a:extLst>
          </p:cNvPr>
          <p:cNvSpPr txBox="1"/>
          <p:nvPr/>
        </p:nvSpPr>
        <p:spPr>
          <a:xfrm>
            <a:off x="1838960" y="374015"/>
            <a:ext cx="967359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Parallel programming algorithms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43EBB4-ACA1-B907-CC26-06D8E08F25FC}"/>
              </a:ext>
            </a:extLst>
          </p:cNvPr>
          <p:cNvSpPr txBox="1"/>
          <p:nvPr/>
        </p:nvSpPr>
        <p:spPr>
          <a:xfrm>
            <a:off x="5646820" y="2286000"/>
            <a:ext cx="42370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for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in range …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for j in range …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for k in range …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  c[</a:t>
            </a:r>
            <a:r>
              <a:rPr lang="en-US" altLang="zh-CN" dirty="0" err="1">
                <a:latin typeface="Consolas" panose="020B0609020204030204" pitchFamily="49" charset="0"/>
              </a:rPr>
              <a:t>i,k</a:t>
            </a:r>
            <a:r>
              <a:rPr lang="en-US" altLang="zh-CN" dirty="0">
                <a:latin typeface="Consolas" panose="020B0609020204030204" pitchFamily="49" charset="0"/>
              </a:rPr>
              <a:t>]=a[</a:t>
            </a:r>
            <a:r>
              <a:rPr lang="en-US" altLang="zh-CN" dirty="0" err="1">
                <a:latin typeface="Consolas" panose="020B0609020204030204" pitchFamily="49" charset="0"/>
              </a:rPr>
              <a:t>i,j</a:t>
            </a:r>
            <a:r>
              <a:rPr lang="en-US" altLang="zh-CN" dirty="0">
                <a:latin typeface="Consolas" panose="020B0609020204030204" pitchFamily="49" charset="0"/>
              </a:rPr>
              <a:t>]*b[</a:t>
            </a:r>
            <a:r>
              <a:rPr lang="en-US" altLang="zh-CN" dirty="0" err="1">
                <a:latin typeface="Consolas" panose="020B0609020204030204" pitchFamily="49" charset="0"/>
              </a:rPr>
              <a:t>j,k</a:t>
            </a:r>
            <a:r>
              <a:rPr lang="en-US" altLang="zh-CN" dirty="0">
                <a:latin typeface="Consolas" panose="020B0609020204030204" pitchFamily="49" charset="0"/>
              </a:rPr>
              <a:t>] 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084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92822-EBDA-0843-00F8-867E59394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EBF068-4CE6-8052-3F85-16DEF436A13C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11187" y="1339216"/>
            <a:ext cx="10969625" cy="4759325"/>
          </a:xfrm>
        </p:spPr>
        <p:txBody>
          <a:bodyPr lIns="90000" tIns="46800" rIns="90000" bIns="46800" rtlCol="0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Tile(Tiling)</a:t>
            </a:r>
          </a:p>
          <a:p>
            <a:r>
              <a:rPr lang="en-US" altLang="zh-CN" sz="20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Degrade</a:t>
            </a:r>
          </a:p>
          <a:p>
            <a:r>
              <a:rPr kumimoji="0" lang="en-US" altLang="zh-CN" sz="20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Decrease cost</a:t>
            </a:r>
            <a:endParaRPr lang="en-US" altLang="zh-CN" sz="20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36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😋</a:t>
            </a:r>
            <a:endParaRPr kumimoji="0" lang="en-US" altLang="zh-CN" sz="36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7AAB3B63-C039-3811-D1DF-34C962557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83DAC31-465C-FD13-C4E5-83AEF676306A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A998EB5-8CE6-5219-45B6-2A49261225B6}"/>
              </a:ext>
            </a:extLst>
          </p:cNvPr>
          <p:cNvSpPr txBox="1"/>
          <p:nvPr/>
        </p:nvSpPr>
        <p:spPr>
          <a:xfrm>
            <a:off x="1838960" y="374015"/>
            <a:ext cx="967359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Parallel programming algorithms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095BA0E5-9B8E-DC39-9F8C-802ABE0ED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2285" y="1367290"/>
            <a:ext cx="8417149" cy="43980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89390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FFCA-A376-FB2C-370A-53548F86E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6EB87B-E983-0319-DA9A-208697B8E9B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11187" y="1339216"/>
            <a:ext cx="10969625" cy="4759325"/>
          </a:xfrm>
        </p:spPr>
        <p:txBody>
          <a:bodyPr lIns="90000" tIns="46800" rIns="90000" bIns="46800" rtlCol="0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Tile(Tiling)+Vector</a:t>
            </a:r>
          </a:p>
          <a:p>
            <a:r>
              <a:rPr lang="en-US" altLang="zh-CN" sz="20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Degrade</a:t>
            </a:r>
          </a:p>
          <a:p>
            <a:r>
              <a:rPr kumimoji="0" lang="en-US" altLang="zh-CN" sz="20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Decrease cost</a:t>
            </a:r>
          </a:p>
          <a:p>
            <a:r>
              <a:rPr lang="en-US" altLang="zh-CN" sz="20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Finer control(thread level)</a:t>
            </a:r>
          </a:p>
          <a:p>
            <a:pPr marL="0" indent="0">
              <a:buNone/>
            </a:pPr>
            <a:r>
              <a:rPr lang="zh-CN" altLang="en-US" sz="36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😋</a:t>
            </a:r>
            <a:endParaRPr kumimoji="0" lang="en-US" altLang="zh-CN" sz="36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DF93B4F6-56DE-05A9-2E61-C5BCE1BA1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D8E0640-D502-D13B-6FB9-D97684AA272E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75EDD86-4AE6-BC6A-A522-A326AFCAD569}"/>
              </a:ext>
            </a:extLst>
          </p:cNvPr>
          <p:cNvSpPr txBox="1"/>
          <p:nvPr/>
        </p:nvSpPr>
        <p:spPr>
          <a:xfrm>
            <a:off x="1838960" y="374015"/>
            <a:ext cx="967359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Parallel programming algorithms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BE14E400-8D0E-18A1-D277-330A3AE67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745" y="1475107"/>
            <a:ext cx="6580971" cy="2939540"/>
          </a:xfrm>
          <a:prstGeom prst="rect">
            <a:avLst/>
          </a:prstGeom>
        </p:spPr>
      </p:pic>
      <p:pic>
        <p:nvPicPr>
          <p:cNvPr id="9" name="图片 8" descr="表格&#10;&#10;AI 生成的内容可能不正确。">
            <a:extLst>
              <a:ext uri="{FF2B5EF4-FFF2-40B4-BE49-F238E27FC236}">
                <a16:creationId xmlns:a16="http://schemas.microsoft.com/office/drawing/2014/main" id="{778B7DEF-7F10-287C-CC2E-EE0E4DC4CA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205"/>
          <a:stretch>
            <a:fillRect/>
          </a:stretch>
        </p:blipFill>
        <p:spPr>
          <a:xfrm>
            <a:off x="5093369" y="4630149"/>
            <a:ext cx="5981031" cy="17598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1209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2B5BA-BD99-BCF1-3A39-68DB3FE4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71C36-7F98-86B7-FD0A-ACFFE7A8916C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13887" y="1339216"/>
            <a:ext cx="10260513" cy="4759325"/>
          </a:xfrm>
        </p:spPr>
        <p:txBody>
          <a:bodyPr lIns="90000" tIns="46800" rIns="90000" bIns="46800" rtlCol="0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zh-CN" sz="2400" b="1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GEMM: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 err="1">
                <a:hlinkClick r:id="rId4"/>
              </a:rPr>
              <a:t>deepseek</a:t>
            </a:r>
            <a:r>
              <a:rPr lang="en-US" altLang="zh-CN" sz="2000" dirty="0">
                <a:hlinkClick r:id="rId4"/>
              </a:rPr>
              <a:t>-ai/</a:t>
            </a:r>
            <a:r>
              <a:rPr lang="en-US" altLang="zh-CN" sz="2000" dirty="0" err="1">
                <a:hlinkClick r:id="rId4"/>
              </a:rPr>
              <a:t>DeepGEMM</a:t>
            </a:r>
            <a:r>
              <a:rPr lang="en-US" altLang="zh-CN" sz="2000" dirty="0">
                <a:hlinkClick r:id="rId4"/>
              </a:rPr>
              <a:t>: </a:t>
            </a:r>
            <a:r>
              <a:rPr lang="en-US" altLang="zh-CN" sz="2000" dirty="0" err="1">
                <a:hlinkClick r:id="rId4"/>
              </a:rPr>
              <a:t>DeepGEMM</a:t>
            </a:r>
            <a:r>
              <a:rPr lang="en-US" altLang="zh-CN" sz="2000" dirty="0">
                <a:hlinkClick r:id="rId4"/>
              </a:rPr>
              <a:t>: clean and efficient FP8 GEMM kernels with fine-grained scaling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lor Emoji"/>
              </a:rPr>
              <a:t> </a:t>
            </a:r>
            <a:r>
              <a:rPr lang="en-US" altLang="zh-CN" sz="2000" dirty="0">
                <a:hlinkClick r:id="rId5"/>
              </a:rPr>
              <a:t>NVIDIA/cutlass: CUDA Templates and Python DSLs for High-Performance Linear Algebra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hlinkClick r:id="rId6"/>
              </a:rPr>
              <a:t>Advanced Matrix Multiplication Optimization on Modern Multi-Core Processors</a:t>
            </a:r>
            <a:endParaRPr lang="en-US" altLang="zh-CN" sz="2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en-US" altLang="zh-CN" sz="2000" b="0" i="0" u="none" strike="noStrike" kern="1200" cap="none" spc="15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 </a:t>
            </a:r>
            <a:r>
              <a:rPr lang="en-US" altLang="zh-CN" sz="2400" b="1" spc="100" noProof="1">
                <a:solidFill>
                  <a:prstClr val="black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Parallel Programming</a:t>
            </a:r>
            <a:r>
              <a:rPr kumimoji="0" lang="en-US" altLang="zh-CN" sz="2400" b="1" i="0" u="none" strike="noStrike" kern="1200" cap="none" spc="10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:</a:t>
            </a:r>
            <a:endParaRPr lang="en-US" altLang="zh-CN" sz="24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 err="1">
                <a:hlinkClick r:id="rId7"/>
              </a:rPr>
              <a:t>iTechX</a:t>
            </a:r>
            <a:r>
              <a:rPr lang="en-US" altLang="zh-CN" sz="2000" dirty="0">
                <a:hlinkClick r:id="rId7"/>
              </a:rPr>
              <a:t> | CS121 Parallel Computing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>
                <a:hlinkClick r:id="rId8"/>
              </a:rPr>
              <a:t>Intro to Triton: A Parallel Programming Compiler and Language (</a:t>
            </a:r>
            <a:r>
              <a:rPr lang="en-US" altLang="zh-CN" sz="2000" dirty="0" err="1">
                <a:hlinkClick r:id="rId8"/>
              </a:rPr>
              <a:t>esp</a:t>
            </a:r>
            <a:r>
              <a:rPr lang="en-US" altLang="zh-CN" sz="2000" dirty="0">
                <a:hlinkClick r:id="rId8"/>
              </a:rPr>
              <a:t> for AI acceleration)</a:t>
            </a:r>
            <a:endParaRPr lang="en-US" altLang="zh-CN" sz="2000" dirty="0"/>
          </a:p>
          <a:p>
            <a:pPr marL="0" indent="0">
              <a:buNone/>
            </a:pPr>
            <a:endParaRPr kumimoji="0" lang="en-US" altLang="zh-CN" sz="28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8A772E8A-FE56-79F9-9685-800D86A58A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F940003-EDAF-68C9-218C-9AE74DFB1E95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0B1F15F-CB43-A04B-3D0C-55F20E4F5102}"/>
              </a:ext>
            </a:extLst>
          </p:cNvPr>
          <p:cNvSpPr txBox="1"/>
          <p:nvPr/>
        </p:nvSpPr>
        <p:spPr>
          <a:xfrm>
            <a:off x="1838960" y="374015"/>
            <a:ext cx="967359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Learning resources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0286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563" y="1127125"/>
            <a:ext cx="9799637" cy="1606550"/>
          </a:xfrm>
        </p:spPr>
        <p:txBody>
          <a:bodyPr vert="horz" lIns="90000" tIns="46800" rIns="90000" bIns="46800" anchor="b" anchorCtr="0"/>
          <a:lstStyle/>
          <a:p>
            <a:pPr defTabSz="914400">
              <a:buClrTx/>
              <a:buSzTx/>
              <a:buFontTx/>
              <a:buNone/>
            </a:pPr>
            <a:r>
              <a:rPr lang="en-US" altLang="zh-CN" sz="4400" kern="1200" normalizeH="0" baseline="0">
                <a:latin typeface="+mj-lt"/>
                <a:ea typeface="+mj-ea"/>
                <a:cs typeface="+mj-cs"/>
              </a:rPr>
              <a:t>Thanks!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234440" y="3114675"/>
            <a:ext cx="9763760" cy="0"/>
          </a:xfrm>
          <a:prstGeom prst="line">
            <a:avLst/>
          </a:prstGeom>
          <a:ln w="38100" cmpd="sng">
            <a:gradFill>
              <a:gsLst>
                <a:gs pos="0">
                  <a:srgbClr val="D2DCF2">
                    <a:alpha val="100000"/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25000">
                  <a:schemeClr val="accent1">
                    <a:lumMod val="45000"/>
                    <a:lumOff val="55000"/>
                  </a:schemeClr>
                </a:gs>
                <a:gs pos="50000">
                  <a:schemeClr val="accent1">
                    <a:lumMod val="78000"/>
                    <a:lumOff val="22000"/>
                  </a:schemeClr>
                </a:gs>
                <a:gs pos="75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副标题 2">
            <a:extLst>
              <a:ext uri="{FF2B5EF4-FFF2-40B4-BE49-F238E27FC236}">
                <a16:creationId xmlns:a16="http://schemas.microsoft.com/office/drawing/2014/main" id="{40291F8D-97EF-067D-59C9-7A9EA18B0B02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198563" y="3495258"/>
            <a:ext cx="9799637" cy="147320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>
            <a:normAutofit lnSpcReduction="10000"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Presenter: Jingwen Sun</a:t>
            </a:r>
            <a:endParaRPr lang="zh-CN" altLang="en-US"/>
          </a:p>
          <a:p>
            <a:r>
              <a:rPr lang="en-US" altLang="zh-CN"/>
              <a:t>2026.1.22  Thu</a:t>
            </a:r>
          </a:p>
          <a:p>
            <a:r>
              <a:rPr lang="en-US" altLang="zh-CN"/>
              <a:t>USTC,</a:t>
            </a:r>
            <a:r>
              <a:rPr lang="zh-CN" altLang="en-US"/>
              <a:t> </a:t>
            </a:r>
            <a:r>
              <a:rPr lang="en-US" altLang="zh-CN"/>
              <a:t>Hefei,</a:t>
            </a:r>
            <a:r>
              <a:rPr lang="zh-CN" altLang="en-US"/>
              <a:t> </a:t>
            </a:r>
            <a:r>
              <a:rPr lang="en-US" altLang="zh-CN"/>
              <a:t>China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665</Words>
  <Application>Microsoft Office PowerPoint</Application>
  <PresentationFormat>宽屏</PresentationFormat>
  <Paragraphs>152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Color Emoji</vt:lpstr>
      <vt:lpstr>微软雅黑</vt:lpstr>
      <vt:lpstr>Arial</vt:lpstr>
      <vt:lpstr>Consolas</vt:lpstr>
      <vt:lpstr>Wingdings</vt:lpstr>
      <vt:lpstr>WPS</vt:lpstr>
      <vt:lpstr>Brief Introduction to Operator Dev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Asus</dc:creator>
  <cp:lastModifiedBy>sanae shirakawa</cp:lastModifiedBy>
  <cp:revision>266</cp:revision>
  <cp:lastPrinted>2026-01-22T12:14:36Z</cp:lastPrinted>
  <dcterms:created xsi:type="dcterms:W3CDTF">2019-06-19T02:08:00Z</dcterms:created>
  <dcterms:modified xsi:type="dcterms:W3CDTF">2026-01-22T12:14:39Z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3789FE7093D64E80A2FFF725CCCC6004_11</vt:lpwstr>
  </property>
</Properties>
</file>