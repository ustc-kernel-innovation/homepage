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438" r:id="rId5"/>
    <p:sldId id="474" r:id="rId6"/>
    <p:sldId id="475" r:id="rId7"/>
    <p:sldId id="476" r:id="rId8"/>
    <p:sldId id="443" r:id="rId9"/>
    <p:sldId id="465" r:id="rId10"/>
    <p:sldId id="441" r:id="rId11"/>
    <p:sldId id="456" r:id="rId12"/>
    <p:sldId id="461" r:id="rId13"/>
    <p:sldId id="463" r:id="rId14"/>
    <p:sldId id="477" r:id="rId15"/>
    <p:sldId id="276" r:id="rId16"/>
  </p:sldIdLst>
  <p:sldSz cx="12192000" cy="6858000"/>
  <p:notesSz cx="6858000" cy="9144000"/>
  <p:custDataLst>
    <p:tags r:id="rId21"/>
  </p:custDataLst>
  <p:defaultTextStyle>
    <a:lvl1pPr marL="0" lvl="0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1pPr>
    <a:lvl2pPr marL="457200" lvl="1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2pPr>
    <a:lvl3pPr marL="914400" lvl="2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3pPr>
    <a:lvl4pPr marL="1371600" lvl="3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4pPr>
    <a:lvl5pPr marL="1828800" lvl="4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5pPr>
    <a:lvl6pPr marL="2286000" lvl="5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6pPr>
    <a:lvl7pPr marL="2743200" lvl="6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7pPr>
    <a:lvl8pPr marL="3200400" lvl="7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8pPr>
    <a:lvl9pPr marL="3657600" lvl="8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5" autoAdjust="0"/>
    <p:restoredTop sz="93521" autoAdjust="0"/>
  </p:normalViewPr>
  <p:slideViewPr>
    <p:cSldViewPr snapToGrid="0">
      <p:cViewPr varScale="1">
        <p:scale>
          <a:sx n="151" d="100"/>
          <a:sy n="151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B1DFE-A53E-47F8-8A08-C7A40075FE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39EC2-91A0-43BE-ADC3-7B9F8F3451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</a:t>
            </a:r>
            <a:r>
              <a:rPr lang="en-US" altLang="zh-CN" dirty="0"/>
              <a:t>，</a:t>
            </a:r>
            <a:r>
              <a:rPr lang="zh-CN" altLang="en-US" dirty="0"/>
              <a:t>我是解文浩</a:t>
            </a:r>
            <a:r>
              <a:rPr lang="en-US" altLang="zh-CN" dirty="0"/>
              <a:t>，</a:t>
            </a:r>
            <a:r>
              <a:rPr lang="zh-CN" altLang="en-US" dirty="0"/>
              <a:t>来自北京大学计算机学院</a:t>
            </a:r>
            <a:r>
              <a:rPr lang="en-US" altLang="zh-CN" dirty="0"/>
              <a:t>，</a:t>
            </a:r>
            <a:r>
              <a:rPr lang="zh-CN" altLang="en-US" dirty="0"/>
              <a:t>目前是硕士三年级</a:t>
            </a:r>
            <a:r>
              <a:rPr lang="en-US" altLang="zh-CN" dirty="0"/>
              <a:t>，</a:t>
            </a:r>
            <a:r>
              <a:rPr lang="zh-CN" altLang="en-US" dirty="0"/>
              <a:t>今天主要给大家讲一下</a:t>
            </a:r>
            <a:r>
              <a:rPr lang="en-US" altLang="zh-CN" dirty="0"/>
              <a:t>tilelang，</a:t>
            </a:r>
            <a:r>
              <a:rPr lang="zh-CN" altLang="en-US" dirty="0"/>
              <a:t>这个基于</a:t>
            </a:r>
            <a:r>
              <a:rPr lang="en-US" altLang="zh-CN" dirty="0"/>
              <a:t>tile</a:t>
            </a:r>
            <a:r>
              <a:rPr lang="zh-CN" altLang="en-US" dirty="0"/>
              <a:t>编程的编写高性能算子的</a:t>
            </a:r>
            <a:r>
              <a:rPr lang="en-US" altLang="zh-CN" dirty="0"/>
              <a:t>DSL。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39EC2-91A0-43BE-ADC3-7B9F8F3451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我们第一部分先做一下</a:t>
            </a:r>
            <a:r>
              <a:rPr lang="en-US" altLang="zh-CN"/>
              <a:t>tilelang</a:t>
            </a:r>
            <a:r>
              <a:rPr lang="zh-CN" altLang="en-US"/>
              <a:t>的整体的</a:t>
            </a:r>
            <a:r>
              <a:rPr lang="zh-CN" altLang="en-US"/>
              <a:t>介绍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zh-CN" altLang="en-US"/>
              <a:t>提到算子编写的</a:t>
            </a:r>
            <a:r>
              <a:rPr lang="en-US" altLang="zh-CN"/>
              <a:t>dsl，</a:t>
            </a:r>
            <a:r>
              <a:rPr lang="zh-CN" altLang="en-US"/>
              <a:t>我们可能首先会想到</a:t>
            </a:r>
            <a:r>
              <a:rPr lang="en-US" altLang="zh-CN"/>
              <a:t>triton；</a:t>
            </a:r>
            <a:endParaRPr lang="en-US" altLang="zh-CN"/>
          </a:p>
          <a:p>
            <a:pPr marL="171450" lvl="0" indent="-171450">
              <a:buFontTx/>
              <a:buChar char="-"/>
            </a:pPr>
            <a:r>
              <a:rPr lang="en-US" altLang="zh-CN"/>
              <a:t>triton</a:t>
            </a:r>
            <a:r>
              <a:rPr lang="zh-CN" altLang="en-US"/>
              <a:t>也是基于</a:t>
            </a:r>
            <a:r>
              <a:rPr lang="en-US" altLang="zh-CN"/>
              <a:t>python</a:t>
            </a:r>
            <a:r>
              <a:rPr lang="zh-CN" altLang="en-US"/>
              <a:t>的编程环境运行</a:t>
            </a:r>
            <a:r>
              <a:rPr lang="en-US" altLang="zh-CN"/>
              <a:t>， </a:t>
            </a:r>
            <a:r>
              <a:rPr lang="zh-CN" altLang="en-US"/>
              <a:t>比</a:t>
            </a:r>
            <a:r>
              <a:rPr lang="en-US" altLang="zh-CN"/>
              <a:t>cuda</a:t>
            </a:r>
            <a:r>
              <a:rPr lang="zh-CN" altLang="en-US"/>
              <a:t>有更低的学习成本</a:t>
            </a:r>
            <a:r>
              <a:rPr lang="en-US" altLang="zh-CN"/>
              <a:t>，</a:t>
            </a:r>
            <a:r>
              <a:rPr lang="zh-CN" altLang="en-US"/>
              <a:t>更高的开发效率</a:t>
            </a:r>
            <a:endParaRPr lang="en-US" altLang="zh-CN"/>
          </a:p>
          <a:p>
            <a:pPr marL="171450" lvl="0" indent="-171450">
              <a:buFontTx/>
              <a:buChar char="-"/>
            </a:pPr>
            <a:r>
              <a:rPr lang="en-US" altLang="zh-CN"/>
              <a:t>triton</a:t>
            </a:r>
            <a:r>
              <a:rPr lang="zh-CN" altLang="en-US"/>
              <a:t>主要由</a:t>
            </a:r>
            <a:r>
              <a:rPr lang="en-US" altLang="zh-CN"/>
              <a:t>openai</a:t>
            </a:r>
            <a:r>
              <a:rPr lang="zh-CN" altLang="en-US"/>
              <a:t>开发并维护</a:t>
            </a:r>
            <a:r>
              <a:rPr lang="en-US" altLang="zh-CN"/>
              <a:t>，</a:t>
            </a:r>
            <a:r>
              <a:rPr lang="zh-CN" altLang="en-US"/>
              <a:t>官方主要支持两个</a:t>
            </a:r>
            <a:r>
              <a:rPr lang="en-US" altLang="zh-CN"/>
              <a:t>gpgpu</a:t>
            </a:r>
            <a:r>
              <a:rPr lang="zh-CN" altLang="en-US"/>
              <a:t>的硬件后端</a:t>
            </a:r>
            <a:r>
              <a:rPr lang="en-US" altLang="zh-CN"/>
              <a:t>，amd</a:t>
            </a:r>
            <a:r>
              <a:rPr lang="zh-CN" altLang="en-US"/>
              <a:t>和</a:t>
            </a:r>
            <a:r>
              <a:rPr lang="en-US" altLang="zh-CN"/>
              <a:t>nv；</a:t>
            </a:r>
            <a:r>
              <a:rPr lang="zh-CN" altLang="en-US"/>
              <a:t>第三方也有其他对</a:t>
            </a:r>
            <a:r>
              <a:rPr lang="en-US" altLang="zh-CN"/>
              <a:t>triton</a:t>
            </a:r>
            <a:r>
              <a:rPr lang="zh-CN" altLang="en-US"/>
              <a:t>的扩展，比如</a:t>
            </a:r>
            <a:r>
              <a:rPr lang="en-US" altLang="zh-CN"/>
              <a:t>triton-shared</a:t>
            </a:r>
            <a:r>
              <a:rPr lang="zh-CN" altLang="en-US"/>
              <a:t>等</a:t>
            </a:r>
            <a:endParaRPr lang="en-US" altLang="zh-CN"/>
          </a:p>
          <a:p>
            <a:pPr marL="171450" lvl="0" indent="-171450">
              <a:buFontTx/>
              <a:buChar char="-"/>
            </a:pPr>
            <a:r>
              <a:rPr lang="zh-CN" altLang="en-US"/>
              <a:t>在</a:t>
            </a:r>
            <a:r>
              <a:rPr lang="en-US" altLang="zh-CN"/>
              <a:t>gihthub</a:t>
            </a:r>
            <a:r>
              <a:rPr lang="zh-CN" altLang="en-US"/>
              <a:t>上也很多项目依赖</a:t>
            </a:r>
            <a:r>
              <a:rPr lang="en-US" altLang="zh-CN"/>
              <a:t>triton；</a:t>
            </a:r>
            <a:r>
              <a:rPr lang="zh-CN" altLang="en-US"/>
              <a:t>目前国内的很多厂商也都想接入</a:t>
            </a:r>
            <a:r>
              <a:rPr lang="en-US" altLang="zh-CN"/>
              <a:t>triton</a:t>
            </a:r>
            <a:r>
              <a:rPr lang="zh-CN" altLang="en-US"/>
              <a:t>；</a:t>
            </a:r>
            <a:endParaRPr lang="zh-CN" altLang="en-US"/>
          </a:p>
          <a:p>
            <a:pPr marL="171450" lvl="0" indent="-171450">
              <a:buFontTx/>
              <a:buChar char="-"/>
            </a:pPr>
            <a:r>
              <a:rPr lang="zh-CN" altLang="en-US"/>
              <a:t>比如智源提出了</a:t>
            </a:r>
            <a:r>
              <a:rPr lang="en-US" altLang="zh-CN"/>
              <a:t>flagos，flaggems，flagtree</a:t>
            </a:r>
            <a:r>
              <a:rPr lang="zh-CN" altLang="en-US"/>
              <a:t>等</a:t>
            </a:r>
            <a:r>
              <a:rPr lang="en-US" altLang="zh-CN"/>
              <a:t>，</a:t>
            </a:r>
            <a:r>
              <a:rPr lang="zh-CN" altLang="en-US"/>
              <a:t>想积极融入</a:t>
            </a:r>
            <a:r>
              <a:rPr lang="en-US" altLang="zh-CN"/>
              <a:t>triton</a:t>
            </a:r>
            <a:r>
              <a:rPr lang="zh-CN" altLang="en-US"/>
              <a:t>生态</a:t>
            </a:r>
            <a:r>
              <a:rPr lang="en-US" altLang="zh-CN"/>
              <a:t>，</a:t>
            </a:r>
            <a:r>
              <a:rPr lang="zh-CN" altLang="en-US"/>
              <a:t>宣称可以绕过</a:t>
            </a:r>
            <a:r>
              <a:rPr lang="en-US" altLang="zh-CN"/>
              <a:t>cuda</a:t>
            </a:r>
            <a:endParaRPr lang="en-US" altLang="zh-CN"/>
          </a:p>
          <a:p>
            <a:pPr marL="171450" lvl="0" indent="-171450">
              <a:buFontTx/>
              <a:buChar char="-"/>
            </a:pPr>
            <a:endParaRPr lang="zh-CN" altLang="en-US"/>
          </a:p>
          <a:p>
            <a:pPr marL="171450" lvl="0" indent="-171450">
              <a:buFontTx/>
              <a:buChar char="-"/>
            </a:pPr>
            <a:endParaRPr lang="en-US" altLang="zh-CN"/>
          </a:p>
          <a:p>
            <a:pPr lvl="0" indent="0">
              <a:buFontTx/>
              <a:buNone/>
            </a:pPr>
            <a:r>
              <a:rPr lang="en-US" altLang="zh-CN"/>
              <a:t>1: 43</a:t>
            </a:r>
            <a:endParaRPr lang="en-US" altLang="zh-CN"/>
          </a:p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925EB-246F-4423-B607-B79025338A13}" type="slidenum">
              <a:rPr kumimoji="0" lang="zh-CN" alt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>
              <a:buFontTx/>
              <a:buNone/>
            </a:pPr>
            <a:r>
              <a:rPr lang="zh-CN" altLang="en-US"/>
              <a:t>那么</a:t>
            </a:r>
            <a:r>
              <a:rPr lang="en-US" altLang="zh-CN"/>
              <a:t>triton</a:t>
            </a:r>
            <a:r>
              <a:rPr lang="zh-CN" altLang="en-US"/>
              <a:t>存在哪些问题</a:t>
            </a:r>
            <a:r>
              <a:rPr lang="en-US" altLang="zh-CN"/>
              <a:t>？</a:t>
            </a:r>
            <a:endParaRPr lang="en-US" altLang="zh-CN"/>
          </a:p>
          <a:p>
            <a:pPr lvl="0" indent="0">
              <a:buFontTx/>
              <a:buNone/>
            </a:pPr>
            <a:r>
              <a:rPr lang="en-US" altLang="zh-CN"/>
              <a:t>1. </a:t>
            </a:r>
            <a:r>
              <a:rPr lang="zh-CN" altLang="en-US"/>
              <a:t>首先</a:t>
            </a:r>
            <a:r>
              <a:rPr lang="en-US" altLang="zh-CN"/>
              <a:t>trtion</a:t>
            </a:r>
            <a:r>
              <a:rPr lang="zh-CN" altLang="en-US"/>
              <a:t>的设计理念是以性能换取易用性</a:t>
            </a:r>
            <a:r>
              <a:rPr lang="en-US" altLang="zh-CN"/>
              <a:t>，</a:t>
            </a:r>
            <a:r>
              <a:rPr lang="zh-CN" altLang="en-US"/>
              <a:t>这虽然可以使得编写算子更容易</a:t>
            </a:r>
            <a:r>
              <a:rPr lang="en-US" altLang="zh-CN"/>
              <a:t>，</a:t>
            </a:r>
            <a:r>
              <a:rPr lang="zh-CN" altLang="en-US"/>
              <a:t>但也难以达到硬件的峰值效率</a:t>
            </a:r>
            <a:r>
              <a:rPr lang="en-US" altLang="zh-CN"/>
              <a:t>；</a:t>
            </a:r>
            <a:r>
              <a:rPr lang="zh-CN" altLang="en-US"/>
              <a:t>相比与手写精调的算子</a:t>
            </a:r>
            <a:r>
              <a:rPr lang="en-US" altLang="zh-CN"/>
              <a:t>，</a:t>
            </a:r>
            <a:r>
              <a:rPr lang="zh-CN" altLang="en-US"/>
              <a:t>可能会有比较严重的性能损失</a:t>
            </a:r>
            <a:r>
              <a:rPr lang="en-US" altLang="zh-CN"/>
              <a:t>；</a:t>
            </a:r>
            <a:r>
              <a:rPr lang="zh-CN" altLang="en-US"/>
              <a:t>普遍在</a:t>
            </a:r>
            <a:r>
              <a:rPr lang="en-US" altLang="zh-CN"/>
              <a:t>H100</a:t>
            </a:r>
            <a:r>
              <a:rPr lang="zh-CN" altLang="en-US"/>
              <a:t>上会损失</a:t>
            </a:r>
            <a:r>
              <a:rPr lang="en-US" altLang="zh-CN"/>
              <a:t>20%</a:t>
            </a:r>
            <a:r>
              <a:rPr lang="zh-CN" altLang="en-US"/>
              <a:t>的性能</a:t>
            </a:r>
            <a:endParaRPr lang="zh-CN" altLang="en-US"/>
          </a:p>
          <a:p>
            <a:pPr lvl="0" indent="0">
              <a:buFontTx/>
              <a:buNone/>
            </a:pPr>
            <a:endParaRPr lang="zh-CN" altLang="en-US"/>
          </a:p>
          <a:p>
            <a:pPr lvl="0" indent="0">
              <a:buFontTx/>
              <a:buNone/>
            </a:pPr>
            <a:r>
              <a:rPr lang="en-US" altLang="zh-CN"/>
              <a:t>2. </a:t>
            </a:r>
            <a:r>
              <a:rPr lang="zh-CN" altLang="en-US"/>
              <a:t>在治理方面</a:t>
            </a:r>
            <a:r>
              <a:rPr lang="en-US" altLang="zh-CN"/>
              <a:t>，</a:t>
            </a:r>
            <a:r>
              <a:rPr lang="zh-CN" altLang="en-US"/>
              <a:t>虽然</a:t>
            </a:r>
            <a:r>
              <a:rPr lang="en-US" altLang="zh-CN"/>
              <a:t>triton</a:t>
            </a:r>
            <a:r>
              <a:rPr lang="zh-CN" altLang="en-US"/>
              <a:t>是开源的</a:t>
            </a:r>
            <a:r>
              <a:rPr lang="en-US" altLang="zh-CN"/>
              <a:t>，</a:t>
            </a:r>
            <a:r>
              <a:rPr lang="zh-CN" altLang="en-US"/>
              <a:t>但是</a:t>
            </a:r>
            <a:r>
              <a:rPr lang="en-US" altLang="zh-CN"/>
              <a:t>openai</a:t>
            </a:r>
            <a:r>
              <a:rPr lang="zh-CN" altLang="en-US"/>
              <a:t>掌控了</a:t>
            </a:r>
            <a:r>
              <a:rPr lang="en-US" altLang="zh-CN"/>
              <a:t>triton</a:t>
            </a:r>
            <a:r>
              <a:rPr lang="zh-CN" altLang="en-US"/>
              <a:t>的</a:t>
            </a:r>
            <a:r>
              <a:rPr lang="en-US" altLang="zh-CN"/>
              <a:t>roadmap，</a:t>
            </a:r>
            <a:r>
              <a:rPr lang="zh-CN" altLang="en-US"/>
              <a:t>这就可能使得它们可能优先满足自己的或是广泛</a:t>
            </a:r>
            <a:r>
              <a:rPr lang="en-US" altLang="zh-CN"/>
              <a:t>ai</a:t>
            </a:r>
            <a:r>
              <a:rPr lang="zh-CN" altLang="en-US"/>
              <a:t>社区的需求</a:t>
            </a:r>
            <a:r>
              <a:rPr lang="en-US" altLang="zh-CN"/>
              <a:t>；</a:t>
            </a:r>
            <a:r>
              <a:rPr lang="zh-CN" altLang="en-US"/>
              <a:t>很多工程师都有相同的抱怨</a:t>
            </a:r>
            <a:r>
              <a:rPr lang="en-US" altLang="zh-CN"/>
              <a:t>，</a:t>
            </a:r>
            <a:r>
              <a:rPr lang="zh-CN" altLang="en-US"/>
              <a:t>很难给</a:t>
            </a:r>
            <a:r>
              <a:rPr lang="en-US" altLang="zh-CN"/>
              <a:t>triton</a:t>
            </a:r>
            <a:r>
              <a:rPr lang="zh-CN" altLang="en-US"/>
              <a:t>贡献增强的代码</a:t>
            </a:r>
            <a:r>
              <a:rPr lang="en-US" altLang="zh-CN"/>
              <a:t>，</a:t>
            </a:r>
            <a:r>
              <a:rPr lang="zh-CN" altLang="en-US"/>
              <a:t>尤其是当这些改变不符合</a:t>
            </a:r>
            <a:r>
              <a:rPr lang="en-US" altLang="zh-CN"/>
              <a:t>openai</a:t>
            </a:r>
            <a:r>
              <a:rPr lang="zh-CN" altLang="en-US"/>
              <a:t>内部的优先级时</a:t>
            </a:r>
            <a:r>
              <a:rPr lang="en-US" altLang="zh-CN"/>
              <a:t>。</a:t>
            </a:r>
            <a:r>
              <a:rPr lang="zh-CN" altLang="en-US"/>
              <a:t>除此之外</a:t>
            </a:r>
            <a:r>
              <a:rPr lang="en-US" altLang="zh-CN"/>
              <a:t>，</a:t>
            </a:r>
            <a:r>
              <a:rPr lang="zh-CN" altLang="en-US"/>
              <a:t>支持其他种类的硬件也很慢</a:t>
            </a:r>
            <a:r>
              <a:rPr lang="en-US" altLang="zh-CN"/>
              <a:t>，</a:t>
            </a:r>
            <a:r>
              <a:rPr lang="zh-CN" altLang="en-US"/>
              <a:t>没有动力优化他们不使用的硬件</a:t>
            </a:r>
            <a:endParaRPr lang="zh-CN" altLang="en-US"/>
          </a:p>
          <a:p>
            <a:pPr lvl="0" indent="0">
              <a:buFontTx/>
              <a:buNone/>
            </a:pPr>
            <a:endParaRPr lang="zh-CN" altLang="en-US"/>
          </a:p>
          <a:p>
            <a:pPr lvl="0" indent="0">
              <a:buFontTx/>
              <a:buNone/>
            </a:pPr>
            <a:r>
              <a:rPr lang="en-US" altLang="zh-CN"/>
              <a:t>3. </a:t>
            </a:r>
            <a:r>
              <a:rPr lang="zh-CN" altLang="en-US"/>
              <a:t>对于不同代际的芯片</a:t>
            </a:r>
            <a:r>
              <a:rPr lang="en-US" altLang="zh-CN"/>
              <a:t>，</a:t>
            </a:r>
            <a:r>
              <a:rPr lang="zh-CN" altLang="en-US"/>
              <a:t>可能要求代码本身有比较大的变化，比如在</a:t>
            </a:r>
            <a:r>
              <a:rPr lang="en-US" altLang="zh-CN"/>
              <a:t>A100</a:t>
            </a:r>
            <a:r>
              <a:rPr lang="zh-CN" altLang="en-US"/>
              <a:t>上优化的代码只能达到</a:t>
            </a:r>
            <a:r>
              <a:rPr lang="en-US" altLang="zh-CN"/>
              <a:t>80%</a:t>
            </a:r>
            <a:r>
              <a:rPr lang="zh-CN" altLang="en-US"/>
              <a:t>的性能</a:t>
            </a:r>
            <a:r>
              <a:rPr lang="en-US" altLang="zh-CN"/>
              <a:t>，triton</a:t>
            </a:r>
            <a:r>
              <a:rPr lang="zh-CN" altLang="en-US"/>
              <a:t>没有抽象出类似</a:t>
            </a:r>
            <a:r>
              <a:rPr lang="en-US" altLang="zh-CN"/>
              <a:t>pipeline，</a:t>
            </a:r>
            <a:r>
              <a:rPr lang="zh-CN" altLang="en-US"/>
              <a:t>异步内存拷贝等</a:t>
            </a:r>
            <a:r>
              <a:rPr lang="en-US" altLang="zh-CN"/>
              <a:t>。</a:t>
            </a:r>
            <a:endParaRPr lang="en-US" altLang="zh-CN"/>
          </a:p>
          <a:p>
            <a:pPr lvl="0" indent="0">
              <a:buFontTx/>
              <a:buNone/>
            </a:pPr>
            <a:endParaRPr lang="en-US" altLang="zh-CN"/>
          </a:p>
          <a:p>
            <a:pPr lvl="0" indent="0">
              <a:buFontTx/>
              <a:buNone/>
            </a:pPr>
            <a:r>
              <a:rPr lang="en-US" altLang="zh-CN"/>
              <a:t>2: 00</a:t>
            </a:r>
            <a:endParaRPr lang="en-US" altLang="zh-CN"/>
          </a:p>
          <a:p>
            <a:pPr marL="628650" lvl="1" indent="-171450">
              <a:buFontTx/>
              <a:buChar char="-"/>
            </a:pPr>
            <a:endParaRPr lang="en-US" altLang="zh-CN"/>
          </a:p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925EB-246F-4423-B607-B79025338A13}" type="slidenum">
              <a:rPr kumimoji="0" lang="zh-CN" alt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0">
              <a:buFontTx/>
              <a:buNone/>
            </a:pPr>
            <a:r>
              <a:rPr lang="zh-CN" altLang="en-US"/>
              <a:t>接下来我们可以看一下目前硬件以及软件的发展趋势以及</a:t>
            </a:r>
            <a:r>
              <a:rPr lang="zh-CN" altLang="en-US"/>
              <a:t>机遇</a:t>
            </a:r>
            <a:endParaRPr lang="zh-CN" altLang="en-US"/>
          </a:p>
          <a:p>
            <a:pPr lvl="1" indent="0">
              <a:buFontTx/>
              <a:buNone/>
            </a:pPr>
            <a:r>
              <a:rPr lang="zh-CN" altLang="en-US"/>
              <a:t>首先讲一下在硬件方面的趋势</a:t>
            </a:r>
            <a:r>
              <a:rPr lang="en-US" altLang="zh-CN"/>
              <a:t>，</a:t>
            </a:r>
            <a:r>
              <a:rPr lang="zh-CN" altLang="en-US"/>
              <a:t>硬件有更高的数据传输和计算效率</a:t>
            </a:r>
            <a:r>
              <a:rPr lang="en-US" altLang="zh-CN"/>
              <a:t>；</a:t>
            </a:r>
            <a:r>
              <a:rPr lang="zh-CN" altLang="en-US"/>
              <a:t>提供更大的片上内存</a:t>
            </a:r>
            <a:r>
              <a:rPr lang="en-US" altLang="zh-CN"/>
              <a:t>SRAM，</a:t>
            </a:r>
            <a:r>
              <a:rPr lang="zh-CN" altLang="en-US"/>
              <a:t>结合</a:t>
            </a:r>
            <a:r>
              <a:rPr lang="en-US" altLang="zh-CN"/>
              <a:t>3D DRAM，</a:t>
            </a:r>
            <a:r>
              <a:rPr lang="zh-CN" altLang="en-US"/>
              <a:t>以及片上互联等技术</a:t>
            </a:r>
            <a:r>
              <a:rPr lang="en-US" altLang="zh-CN"/>
              <a:t>，</a:t>
            </a:r>
            <a:r>
              <a:rPr lang="zh-CN" altLang="en-US"/>
              <a:t>可以提供超高的计算带宽</a:t>
            </a:r>
            <a:r>
              <a:rPr lang="en-US" altLang="zh-CN"/>
              <a:t>，</a:t>
            </a:r>
            <a:r>
              <a:rPr lang="zh-CN" altLang="en-US"/>
              <a:t>这可以满足运算设备要求的吞吐</a:t>
            </a:r>
            <a:r>
              <a:rPr lang="en-US" altLang="zh-CN"/>
              <a:t>；</a:t>
            </a:r>
            <a:r>
              <a:rPr lang="zh-CN" altLang="en-US"/>
              <a:t>这进一步要求我们以更大的</a:t>
            </a:r>
            <a:r>
              <a:rPr lang="en-US" altLang="zh-CN"/>
              <a:t>tile</a:t>
            </a:r>
            <a:r>
              <a:rPr lang="zh-CN" altLang="en-US"/>
              <a:t>粒度来进行指令集设计和体系结构设计</a:t>
            </a:r>
            <a:r>
              <a:rPr lang="en-US" altLang="zh-CN"/>
              <a:t>，</a:t>
            </a:r>
            <a:r>
              <a:rPr lang="zh-CN" altLang="en-US"/>
              <a:t>比如</a:t>
            </a:r>
            <a:r>
              <a:rPr lang="en-US" altLang="zh-CN"/>
              <a:t>nv gpu</a:t>
            </a:r>
            <a:r>
              <a:rPr lang="zh-CN" altLang="en-US"/>
              <a:t>的</a:t>
            </a:r>
            <a:r>
              <a:rPr lang="en-US" altLang="zh-CN"/>
              <a:t>mma</a:t>
            </a:r>
            <a:r>
              <a:rPr lang="zh-CN" altLang="en-US"/>
              <a:t>指令在</a:t>
            </a:r>
            <a:r>
              <a:rPr lang="en-US" altLang="zh-CN"/>
              <a:t>hopper</a:t>
            </a:r>
            <a:r>
              <a:rPr lang="zh-CN" altLang="en-US"/>
              <a:t>上</a:t>
            </a:r>
            <a:r>
              <a:rPr lang="en-US" altLang="zh-CN"/>
              <a:t>，</a:t>
            </a:r>
            <a:r>
              <a:rPr lang="zh-CN" altLang="en-US"/>
              <a:t>就提供了一个更大粒度的</a:t>
            </a:r>
            <a:r>
              <a:rPr lang="en-US" altLang="zh-CN"/>
              <a:t>wgmma，</a:t>
            </a:r>
            <a:r>
              <a:rPr lang="zh-CN" altLang="en-US"/>
              <a:t>来做更大</a:t>
            </a:r>
            <a:r>
              <a:rPr lang="en-US" altLang="zh-CN"/>
              <a:t>tile</a:t>
            </a:r>
            <a:r>
              <a:rPr lang="zh-CN" altLang="en-US"/>
              <a:t>的</a:t>
            </a:r>
            <a:r>
              <a:rPr lang="en-US" altLang="zh-CN"/>
              <a:t>juzhencheng</a:t>
            </a:r>
            <a:endParaRPr lang="en-US" altLang="zh-CN"/>
          </a:p>
          <a:p>
            <a:pPr lvl="1" indent="0">
              <a:buFontTx/>
              <a:buNone/>
            </a:pPr>
            <a:endParaRPr lang="en-US" altLang="zh-CN"/>
          </a:p>
          <a:p>
            <a:pPr lvl="1" indent="0">
              <a:buFontTx/>
              <a:buNone/>
            </a:pPr>
            <a:r>
              <a:rPr lang="zh-CN" altLang="en-US"/>
              <a:t>在硬件上的这种趋势</a:t>
            </a:r>
            <a:r>
              <a:rPr lang="en-US" altLang="zh-CN"/>
              <a:t>，</a:t>
            </a:r>
            <a:r>
              <a:rPr lang="zh-CN" altLang="en-US"/>
              <a:t>也推动了基于</a:t>
            </a:r>
            <a:r>
              <a:rPr lang="en-US" altLang="zh-CN"/>
              <a:t>tile</a:t>
            </a:r>
            <a:r>
              <a:rPr lang="zh-CN" altLang="en-US"/>
              <a:t>的编程语言</a:t>
            </a:r>
            <a:r>
              <a:rPr lang="en-US" altLang="zh-CN"/>
              <a:t>；</a:t>
            </a:r>
            <a:r>
              <a:rPr lang="zh-CN" altLang="en-US"/>
              <a:t>主要是在更大的</a:t>
            </a:r>
            <a:r>
              <a:rPr lang="en-US" altLang="zh-CN"/>
              <a:t>tile</a:t>
            </a:r>
            <a:r>
              <a:rPr lang="zh-CN" altLang="en-US"/>
              <a:t>粒度上进行编程和编译</a:t>
            </a:r>
            <a:r>
              <a:rPr lang="en-US" altLang="zh-CN"/>
              <a:t>，</a:t>
            </a:r>
            <a:r>
              <a:rPr lang="zh-CN" altLang="en-US"/>
              <a:t>可以更</a:t>
            </a:r>
            <a:r>
              <a:rPr lang="zh-CN" altLang="en-US"/>
              <a:t>方便</a:t>
            </a:r>
            <a:endParaRPr lang="zh-CN" altLang="en-US"/>
          </a:p>
          <a:p>
            <a:pPr lvl="1" indent="0">
              <a:buFontTx/>
              <a:buNone/>
            </a:pPr>
            <a:endParaRPr lang="zh-CN" altLang="en-US"/>
          </a:p>
          <a:p>
            <a:pPr lvl="1" indent="0">
              <a:buFontTx/>
              <a:buNone/>
            </a:pPr>
            <a:r>
              <a:rPr lang="en-US" altLang="zh-CN"/>
              <a:t>nv</a:t>
            </a:r>
            <a:r>
              <a:rPr lang="zh-CN" altLang="en-US"/>
              <a:t>自己也提出了</a:t>
            </a:r>
            <a:r>
              <a:rPr lang="en-US" altLang="zh-CN"/>
              <a:t>cutile</a:t>
            </a:r>
            <a:r>
              <a:rPr lang="zh-CN" altLang="en-US"/>
              <a:t>语言</a:t>
            </a:r>
            <a:r>
              <a:rPr lang="en-US" altLang="zh-CN"/>
              <a:t>，</a:t>
            </a:r>
            <a:endParaRPr lang="en-US" altLang="zh-CN"/>
          </a:p>
          <a:p>
            <a:pPr lvl="1" indent="0">
              <a:buFontTx/>
              <a:buNone/>
            </a:pPr>
            <a:r>
              <a:rPr lang="en-US" altLang="zh-CN"/>
              <a:t>2:00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925EB-246F-4423-B607-B79025338A13}" type="slidenum">
              <a:rPr kumimoji="0" lang="zh-CN" alt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我们第一部分先做一下</a:t>
            </a:r>
            <a:r>
              <a:rPr lang="en-US" altLang="zh-CN"/>
              <a:t>tilelang</a:t>
            </a:r>
            <a:r>
              <a:rPr lang="zh-CN" altLang="en-US"/>
              <a:t>的整体的</a:t>
            </a:r>
            <a:r>
              <a:rPr lang="zh-CN" altLang="en-US"/>
              <a:t>介绍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以上就是我的汇报内容，感谢各位评委老师，欢迎各位老师提问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39EC2-91A0-43BE-ADC3-7B9F8F3451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3F4F0F-AD64-44E0-8221-2B259DD836C7}" type="datetime1">
              <a:rPr lang="zh-CN" altLang="en-US" smtClean="0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60326-249E-4226-AD91-D0459C9954F5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5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EE8D386-6126-46DE-BDAE-AE18A1D4B67A}" type="datetime1">
              <a:rPr lang="zh-CN" altLang="en-US" smtClean="0"/>
            </a:fld>
            <a:endParaRPr lang="zh-CN"/>
          </a:p>
        </p:txBody>
      </p:sp>
      <p:sp>
        <p:nvSpPr>
          <p:cNvPr id="46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7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9ECCA8-BF14-455B-B632-949D6EF1E24E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6808984-43BE-47AF-994E-E4FEAD26DA08}" type="datetime1">
              <a:rPr lang="zh-CN" altLang="en-US" smtClean="0"/>
            </a:fld>
            <a:endParaRPr lang="zh-CN"/>
          </a:p>
        </p:txBody>
      </p:sp>
      <p:sp>
        <p:nvSpPr>
          <p:cNvPr id="50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1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98FCF-6A2F-41E6-A0C5-57E32F90BDBD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5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6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D3B4A-F62D-401C-B4FC-0E0EA29F1B0B}" type="datetime1">
              <a:rPr lang="zh-CN" altLang="en-US" smtClean="0"/>
            </a:fld>
            <a:endParaRPr lang="zh-CN"/>
          </a:p>
        </p:txBody>
      </p:sp>
      <p:sp>
        <p:nvSpPr>
          <p:cNvPr id="57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8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783FDD-3F71-4BAE-A028-B8F4089769D1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1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2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08D075-3011-4C21-8096-686DF5F73A59}" type="datetime1">
              <a:rPr lang="zh-CN" altLang="en-US" smtClean="0"/>
            </a:fld>
            <a:endParaRPr lang="zh-CN"/>
          </a:p>
        </p:txBody>
      </p:sp>
      <p:sp>
        <p:nvSpPr>
          <p:cNvPr id="6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1552FEE-65AE-4FF1-93CE-2B2989875EA0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8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9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90D4315-2297-400A-A6A6-0548F7E6302F}" type="datetime1">
              <a:rPr lang="zh-CN" altLang="en-US" smtClean="0"/>
            </a:fld>
            <a:endParaRPr lang="zh-CN"/>
          </a:p>
        </p:txBody>
      </p:sp>
      <p:sp>
        <p:nvSpPr>
          <p:cNvPr id="70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1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B5B04E-C507-4F4C-B081-35D917458E64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6B8D0E-7ACF-4ACD-9C5B-A2440D3583F9}" type="datetime1">
              <a:rPr lang="zh-CN" altLang="en-US" smtClean="0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71CE311-9643-4AD1-9C97-D8A5CD381DA7}" type="slidenum">
              <a:rPr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426" y="379896"/>
            <a:ext cx="10788374" cy="8128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5426" y="1395896"/>
            <a:ext cx="11149496" cy="4781067"/>
          </a:xfrm>
        </p:spPr>
        <p:txBody>
          <a:bodyPr/>
          <a:lstStyle>
            <a:lvl1pPr>
              <a:buClr>
                <a:srgbClr val="C000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rgbClr val="C000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rgbClr val="C000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rgbClr val="C000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C000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B1F3-C2DC-463C-8F42-760F3304BA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 userDrawn="1"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>
              <a:solidFill>
                <a:srgbClr val="101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6567087" y="924769"/>
            <a:ext cx="4474293" cy="2378597"/>
          </a:xfrm>
          <a:ln w="69850">
            <a:gradFill>
              <a:gsLst>
                <a:gs pos="0">
                  <a:srgbClr val="1010FF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</p:spPr>
        <p:txBody>
          <a:bodyPr>
            <a:normAutofit/>
          </a:bodyPr>
          <a:lstStyle>
            <a:lvl1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</a:t>
            </a:r>
            <a:r>
              <a:rPr lang="en-US" err="1"/>
              <a:t>levelv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859709" y="2240280"/>
            <a:ext cx="4847670" cy="3900646"/>
          </a:xfrm>
        </p:spPr>
        <p:txBody>
          <a:bodyPr/>
          <a:lstStyle>
            <a:lvl1pPr marL="0" indent="0">
              <a:buNone/>
              <a:defRPr sz="16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0"/>
          </p:nvPr>
        </p:nvSpPr>
        <p:spPr>
          <a:xfrm>
            <a:off x="859708" y="953111"/>
            <a:ext cx="4847671" cy="74718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6567087" y="3731369"/>
            <a:ext cx="4474293" cy="2378597"/>
          </a:xfrm>
          <a:ln w="69850">
            <a:gradFill>
              <a:gsLst>
                <a:gs pos="0">
                  <a:srgbClr val="1010FF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</p:spPr>
        <p:txBody>
          <a:bodyPr>
            <a:normAutofit/>
          </a:bodyPr>
          <a:lstStyle>
            <a:lvl1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2000">
                <a:solidFill>
                  <a:srgbClr val="101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</a:t>
            </a:r>
            <a:r>
              <a:rPr lang="en-US" err="1"/>
              <a:t>levelv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0B54-0380-4059-BCBE-175E55A0F37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0C8C-CE72-485F-B33C-65BB96C948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04A7-1B2B-4E40-B898-346274BA9692}" type="datetime1">
              <a:rPr lang="zh-CN" altLang="en-US" smtClean="0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B028B-98CF-49F0-BDDC-CA694ECF417C}" type="slidenum">
              <a:rPr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2.svg"/><Relationship Id="rId4" Type="http://schemas.openxmlformats.org/officeDocument/2006/relationships/image" Target="../media/image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2.svg"/><Relationship Id="rId4" Type="http://schemas.openxmlformats.org/officeDocument/2006/relationships/image" Target="../media/image4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2.sv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17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6"/>
          <p:cNvSpPr txBox="1"/>
          <p:nvPr/>
        </p:nvSpPr>
        <p:spPr>
          <a:xfrm>
            <a:off x="1169035" y="438785"/>
            <a:ext cx="10236835" cy="623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de-DE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de-DE" sz="4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HP Simplified Hans" panose="020B0500000000000000" charset="-122"/>
                <a:cs typeface="Arial" panose="020B0604020202090204" pitchFamily="34" charset="0"/>
              </a:rPr>
              <a:t>x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TileLang-Ascend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解文浩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2026.01.29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54300" y="1658610"/>
            <a:ext cx="2880000" cy="720000"/>
          </a:xfrm>
          <a:prstGeom prst="rect">
            <a:avLst/>
          </a:prstGeom>
          <a:noFill/>
        </p:spPr>
      </p:pic>
      <p:pic>
        <p:nvPicPr>
          <p:cNvPr id="3" name="图片 2" descr="logo1.BQ2XZIjU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195" y="1600200"/>
            <a:ext cx="2046605" cy="778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49095" y="2316798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Part I:</a:t>
            </a:r>
            <a:b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TileLang</a:t>
            </a:r>
            <a:r>
              <a:rPr kumimoji="1"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kumimoji="1" lang="zh-CN" altLang="en-US" dirty="0" err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6210" y="250180"/>
            <a:ext cx="2880000" cy="720000"/>
          </a:xfrm>
          <a:prstGeom prst="rect">
            <a:avLst/>
          </a:prstGeom>
          <a:noFill/>
        </p:spPr>
      </p:pic>
      <p:sp>
        <p:nvSpPr>
          <p:cNvPr id="11" name="矩形 32"/>
          <p:cNvSpPr/>
          <p:nvPr/>
        </p:nvSpPr>
        <p:spPr>
          <a:xfrm>
            <a:off x="0" y="231775"/>
            <a:ext cx="8618220" cy="738505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733" y="970329"/>
            <a:ext cx="11614122" cy="2056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charset="0"/>
              <a:buChar char="n"/>
              <a:defRPr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Triton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编程语言，绕过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 algn="just" rtl="0">
              <a:lnSpc>
                <a:spcPct val="250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的编程环境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运行，比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更低的学习成本、更高的开发效率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rtl="0">
              <a:lnSpc>
                <a:spcPct val="250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出品，开源社区活跃，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上已被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25k+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项目依赖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9"/>
          <p:cNvSpPr txBox="1"/>
          <p:nvPr/>
        </p:nvSpPr>
        <p:spPr>
          <a:xfrm>
            <a:off x="887706" y="278091"/>
            <a:ext cx="52532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国外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Triton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软件生态发展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矩形 32"/>
          <p:cNvSpPr/>
          <p:nvPr/>
        </p:nvSpPr>
        <p:spPr>
          <a:xfrm>
            <a:off x="0" y="231925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06" y="3596881"/>
            <a:ext cx="1462268" cy="39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Logo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862" y="3457777"/>
            <a:ext cx="518985" cy="59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8"/>
          <p:cNvSpPr/>
          <p:nvPr/>
        </p:nvSpPr>
        <p:spPr>
          <a:xfrm>
            <a:off x="1028402" y="4247726"/>
            <a:ext cx="1799535" cy="492101"/>
          </a:xfrm>
          <a:prstGeom prst="rect">
            <a:avLst/>
          </a:prstGeom>
          <a:solidFill>
            <a:srgbClr val="4EB3AD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Triton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6"/>
          <p:cNvSpPr/>
          <p:nvPr/>
        </p:nvSpPr>
        <p:spPr>
          <a:xfrm>
            <a:off x="1028402" y="4822673"/>
            <a:ext cx="1799535" cy="532798"/>
          </a:xfrm>
          <a:prstGeom prst="roundRect">
            <a:avLst>
              <a:gd name="adj" fmla="val 4732"/>
            </a:avLst>
          </a:prstGeom>
          <a:solidFill>
            <a:schemeClr val="accent4">
              <a:lumMod val="20000"/>
              <a:lumOff val="80000"/>
              <a:alpha val="67000"/>
            </a:schemeClr>
          </a:solidFill>
          <a:ln w="12700" cap="flat">
            <a:noFill/>
            <a:prstDash val="solid"/>
          </a:ln>
        </p:spPr>
        <p:txBody>
          <a:bodyPr lIns="36000" tIns="45721" rIns="36000" bIns="45721" rtlCol="0" anchor="ctr">
            <a:noAutofit/>
          </a:bodyPr>
          <a:lstStyle/>
          <a:p>
            <a:pPr indent="0" algn="ctr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Noto Sans SC" panose="020B0200000000000000" charset="-122"/>
              </a:rPr>
              <a:t>GPU </a:t>
            </a:r>
            <a:r>
              <a:rPr lang="zh-CN" altLang="en-US" sz="16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Noto Sans SC" panose="020B0200000000000000" charset="-122"/>
              </a:rPr>
              <a:t>编译路径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23" name="AutoShape 6"/>
          <p:cNvSpPr/>
          <p:nvPr/>
        </p:nvSpPr>
        <p:spPr>
          <a:xfrm>
            <a:off x="1028402" y="5438317"/>
            <a:ext cx="2917803" cy="291092"/>
          </a:xfrm>
          <a:prstGeom prst="roundRect">
            <a:avLst>
              <a:gd name="adj" fmla="val 13618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</a:ln>
        </p:spPr>
        <p:txBody>
          <a:bodyPr lIns="91440" tIns="45721" rIns="91440" bIns="45721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altLang="zh-CN" sz="16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Noto Sans SC" panose="020B0200000000000000" charset="-122"/>
              </a:rPr>
              <a:t>LLVM</a:t>
            </a:r>
            <a:endParaRPr lang="en-US" altLang="zh-CN" sz="16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  <a:sym typeface="Noto Sans SC" panose="020B0200000000000000" charset="-122"/>
            </a:endParaRPr>
          </a:p>
        </p:txBody>
      </p:sp>
      <p:sp>
        <p:nvSpPr>
          <p:cNvPr id="24" name="AutoShape 6"/>
          <p:cNvSpPr/>
          <p:nvPr/>
        </p:nvSpPr>
        <p:spPr>
          <a:xfrm>
            <a:off x="2924724" y="4930624"/>
            <a:ext cx="1021481" cy="424847"/>
          </a:xfrm>
          <a:prstGeom prst="roundRect">
            <a:avLst>
              <a:gd name="adj" fmla="val 14090"/>
            </a:avLst>
          </a:prstGeom>
          <a:solidFill>
            <a:schemeClr val="accent1">
              <a:lumMod val="20000"/>
              <a:lumOff val="80000"/>
              <a:alpha val="47000"/>
            </a:schemeClr>
          </a:solidFill>
          <a:ln w="12700" cap="flat">
            <a:noFill/>
            <a:prstDash val="solid"/>
          </a:ln>
        </p:spPr>
        <p:txBody>
          <a:bodyPr lIns="91440" tIns="45721" rIns="91440" bIns="45721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altLang="zh-CN" sz="16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Noto Sans SC" panose="020B0200000000000000" charset="-122"/>
              </a:rPr>
              <a:t>CUDA</a:t>
            </a:r>
            <a:endParaRPr lang="en-US" altLang="zh-CN" sz="16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  <a:sym typeface="Noto Sans SC" panose="020B0200000000000000" charset="-122"/>
            </a:endParaRPr>
          </a:p>
        </p:txBody>
      </p:sp>
      <p:sp>
        <p:nvSpPr>
          <p:cNvPr id="25" name="Rounded Rectangle 4"/>
          <p:cNvSpPr/>
          <p:nvPr/>
        </p:nvSpPr>
        <p:spPr>
          <a:xfrm>
            <a:off x="1028402" y="5812255"/>
            <a:ext cx="2917803" cy="439296"/>
          </a:xfrm>
          <a:prstGeom prst="roundRect">
            <a:avLst>
              <a:gd name="adj" fmla="val 7528"/>
            </a:avLst>
          </a:prstGeom>
          <a:solidFill>
            <a:schemeClr val="accent3">
              <a:lumMod val="40000"/>
              <a:lumOff val="60000"/>
              <a:alpha val="47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GPU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驱动与设备库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998" y="3171746"/>
            <a:ext cx="5957136" cy="3549505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9"/>
          <p:cNvSpPr txBox="1"/>
          <p:nvPr/>
        </p:nvSpPr>
        <p:spPr>
          <a:xfrm>
            <a:off x="887706" y="278091"/>
            <a:ext cx="29449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DLaM Display" panose="02010000000000000000" pitchFamily="2" charset="0"/>
              </a:rPr>
              <a:t>Triton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DLaM Display" panose="02010000000000000000" pitchFamily="2" charset="0"/>
              </a:rPr>
              <a:t>的问题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ADLaM Display" panose="02010000000000000000" pitchFamily="2" charset="0"/>
            </a:endParaRPr>
          </a:p>
        </p:txBody>
      </p:sp>
      <p:sp>
        <p:nvSpPr>
          <p:cNvPr id="11" name="矩形 32"/>
          <p:cNvSpPr/>
          <p:nvPr/>
        </p:nvSpPr>
        <p:spPr>
          <a:xfrm>
            <a:off x="0" y="231925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258" y="1282900"/>
            <a:ext cx="5929162" cy="17453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58" y="3235220"/>
            <a:ext cx="5991677" cy="29858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871" y="1717180"/>
            <a:ext cx="5764129" cy="394256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06258" y="1717179"/>
            <a:ext cx="5584403" cy="255999"/>
          </a:xfrm>
          <a:prstGeom prst="rect">
            <a:avLst/>
          </a:prstGeom>
          <a:solidFill>
            <a:schemeClr val="accent5">
              <a:alpha val="4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258" y="3239102"/>
            <a:ext cx="5584403" cy="293369"/>
          </a:xfrm>
          <a:prstGeom prst="rect">
            <a:avLst/>
          </a:prstGeom>
          <a:solidFill>
            <a:schemeClr val="accent5">
              <a:alpha val="4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35420" y="1748052"/>
            <a:ext cx="5584403" cy="255999"/>
          </a:xfrm>
          <a:prstGeom prst="rect">
            <a:avLst/>
          </a:prstGeom>
          <a:solidFill>
            <a:schemeClr val="accent5">
              <a:alpha val="4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6258" y="2440090"/>
            <a:ext cx="5706916" cy="5881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6074" y="4582659"/>
            <a:ext cx="5786430" cy="9335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05570" y="2812773"/>
            <a:ext cx="5786430" cy="5479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5" grpId="0" bldLvl="0" animBg="1"/>
      <p:bldP spid="1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9"/>
          <p:cNvSpPr txBox="1"/>
          <p:nvPr/>
        </p:nvSpPr>
        <p:spPr>
          <a:xfrm>
            <a:off x="887706" y="278091"/>
            <a:ext cx="74060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Arial" panose="020B0604020202090204"/>
              </a:rPr>
              <a:t>趋势与机遇：基于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Arial" panose="020B0604020202090204"/>
              </a:rPr>
              <a:t>Tile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Arial" panose="020B0604020202090204"/>
              </a:rPr>
              <a:t>的软硬件协同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Arial" panose="020B0604020202090204"/>
            </a:endParaRPr>
          </a:p>
        </p:txBody>
      </p:sp>
      <p:sp>
        <p:nvSpPr>
          <p:cNvPr id="11" name="矩形 32"/>
          <p:cNvSpPr/>
          <p:nvPr/>
        </p:nvSpPr>
        <p:spPr>
          <a:xfrm>
            <a:off x="0" y="231925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104796" y="1724472"/>
            <a:ext cx="5614479" cy="23886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Tile-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AI加速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endParaRPr 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更高的数据传输和计算效率</a:t>
            </a:r>
            <a:endParaRPr lang="en-US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本地大容量SRAM，再结合3D DRAM，</a:t>
            </a:r>
            <a:r>
              <a:rPr lang="zh-CN" altLang="en-US" b="0" i="0" u="none" strike="noStrik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片上互联，</a:t>
            </a:r>
            <a:r>
              <a:rPr lang="en-US" b="0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提供超高计算带宽</a:t>
            </a:r>
            <a:endParaRPr lang="en-US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要求以更大的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粒度来进行指令集设计和体系结构设计</a:t>
            </a:r>
            <a:endParaRPr lang="en-US" b="1" i="0" u="none" strike="noStrike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spcAft>
                <a:spcPts val="300"/>
              </a:spcAft>
            </a:pPr>
            <a:endParaRPr lang="en-US" sz="2100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spcAft>
                <a:spcPts val="300"/>
              </a:spcAft>
            </a:pPr>
            <a:endParaRPr lang="en-US" sz="2100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0253" y="3605152"/>
            <a:ext cx="1489341" cy="967517"/>
          </a:xfrm>
          <a:prstGeom prst="rect">
            <a:avLst/>
          </a:prstGeom>
        </p:spPr>
      </p:pic>
      <p:pic>
        <p:nvPicPr>
          <p:cNvPr id="16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21" y="4123899"/>
            <a:ext cx="1964696" cy="1336258"/>
          </a:xfrm>
          <a:prstGeom prst="rect">
            <a:avLst/>
          </a:prstGeom>
        </p:spPr>
      </p:pic>
      <p:sp>
        <p:nvSpPr>
          <p:cNvPr id="17" name="加号 61"/>
          <p:cNvSpPr/>
          <p:nvPr/>
        </p:nvSpPr>
        <p:spPr>
          <a:xfrm>
            <a:off x="2530122" y="4581140"/>
            <a:ext cx="442665" cy="421775"/>
          </a:xfrm>
          <a:prstGeom prst="mathPlus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57"/>
          <p:cNvSpPr/>
          <p:nvPr/>
        </p:nvSpPr>
        <p:spPr>
          <a:xfrm>
            <a:off x="194967" y="1724790"/>
            <a:ext cx="5433620" cy="46865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8"/>
          <p:cNvSpPr/>
          <p:nvPr/>
        </p:nvSpPr>
        <p:spPr>
          <a:xfrm>
            <a:off x="6597724" y="1807334"/>
            <a:ext cx="5149800" cy="25189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Tile-</a:t>
            </a:r>
            <a:r>
              <a:rPr lang="zh-CN" altLang="en-US" sz="20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编程语言</a:t>
            </a:r>
            <a:endParaRPr 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在更大的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粒度上进行编程和编译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，可以有更方便和高效地优化模型算子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Font typeface="Arial" panose="020B0604020202090204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编程计算抽象和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硬件抽象一致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，高效协同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7180" lvl="2" indent="-234950">
              <a:spcAft>
                <a:spcPts val="300"/>
              </a:spcAft>
              <a:buFontTx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spcAft>
                <a:spcPts val="300"/>
              </a:spcAft>
            </a:pPr>
            <a:endParaRPr lang="en-US" sz="2100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spcAft>
                <a:spcPts val="300"/>
              </a:spcAft>
            </a:pPr>
            <a:endParaRPr lang="en-US" sz="2100" b="0" i="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57"/>
          <p:cNvSpPr/>
          <p:nvPr/>
        </p:nvSpPr>
        <p:spPr>
          <a:xfrm>
            <a:off x="6693371" y="1788314"/>
            <a:ext cx="5235869" cy="462363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65" y="5009932"/>
            <a:ext cx="1439329" cy="9675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AutoShape 15"/>
          <p:cNvSpPr/>
          <p:nvPr/>
        </p:nvSpPr>
        <p:spPr>
          <a:xfrm>
            <a:off x="3544968" y="6076937"/>
            <a:ext cx="1034053" cy="178942"/>
          </a:xfrm>
          <a:prstGeom prst="rect">
            <a:avLst/>
          </a:prstGeom>
          <a:noFill/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片上网络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15"/>
          <p:cNvSpPr/>
          <p:nvPr/>
        </p:nvSpPr>
        <p:spPr>
          <a:xfrm>
            <a:off x="3220253" y="4549537"/>
            <a:ext cx="1412534" cy="389371"/>
          </a:xfrm>
          <a:prstGeom prst="rect">
            <a:avLst/>
          </a:prstGeom>
          <a:noFill/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先进封装存储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0"/>
          <p:cNvSpPr/>
          <p:nvPr/>
        </p:nvSpPr>
        <p:spPr>
          <a:xfrm>
            <a:off x="172531" y="3786290"/>
            <a:ext cx="2510475" cy="543159"/>
          </a:xfrm>
          <a:prstGeom prst="rect">
            <a:avLst/>
          </a:prstGeom>
          <a:noFill/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新一代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Tile-based AI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5628587" y="4032386"/>
            <a:ext cx="1064786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589" y="3706014"/>
            <a:ext cx="4910582" cy="1896647"/>
          </a:xfrm>
          <a:prstGeom prst="rect">
            <a:avLst/>
          </a:prstGeom>
        </p:spPr>
      </p:pic>
      <p:sp>
        <p:nvSpPr>
          <p:cNvPr id="26" name="TextBox 6"/>
          <p:cNvSpPr txBox="1"/>
          <p:nvPr/>
        </p:nvSpPr>
        <p:spPr>
          <a:xfrm>
            <a:off x="790663" y="773376"/>
            <a:ext cx="11614122" cy="66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charset="0"/>
              <a:buChar char="n"/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加速器发展的新趋势使得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Tile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编程语言变得越来越重要，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而非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SIMT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模式的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7010" y="37545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 29"/>
          <p:cNvSpPr txBox="1"/>
          <p:nvPr/>
        </p:nvSpPr>
        <p:spPr>
          <a:xfrm>
            <a:off x="887706" y="508869"/>
            <a:ext cx="44221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de-DE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Ascend NPU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硬件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架构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17" name="矩形 40"/>
          <p:cNvSpPr/>
          <p:nvPr/>
        </p:nvSpPr>
        <p:spPr>
          <a:xfrm flipV="1">
            <a:off x="7163693" y="6772905"/>
            <a:ext cx="4682001" cy="128741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317625" y="1092200"/>
            <a:ext cx="7953375" cy="5572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 29"/>
          <p:cNvSpPr txBox="1"/>
          <p:nvPr/>
        </p:nvSpPr>
        <p:spPr>
          <a:xfrm>
            <a:off x="887706" y="508869"/>
            <a:ext cx="332295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Tilelang-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Ascend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17" name="矩形 40"/>
          <p:cNvSpPr/>
          <p:nvPr/>
        </p:nvSpPr>
        <p:spPr>
          <a:xfrm flipV="1">
            <a:off x="7163693" y="6772905"/>
            <a:ext cx="4682001" cy="128741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399415" y="1414780"/>
            <a:ext cx="11005820" cy="1167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目前已在</a:t>
            </a:r>
            <a:r>
              <a:rPr lang="en-US" altLang="zh-CN"/>
              <a:t>github</a:t>
            </a:r>
            <a:r>
              <a:rPr lang="zh-CN" altLang="en-US"/>
              <a:t>开源</a:t>
            </a:r>
            <a:r>
              <a:rPr lang="en-US" altLang="zh-CN"/>
              <a:t>，https://github.com/tile-ai/tilelang-ascend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实现多种算子</a:t>
            </a:r>
            <a:r>
              <a:rPr lang="en-US" altLang="zh-CN"/>
              <a:t>: MatMul, flash attention, sparse flash attention, elementwise 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4" name="图片 3" descr="/Users/xwh/Library/Containers/com.kingsoft.wpsoffice.mac/Data/tmp/photoeditapp/20251106151019/temp.pngte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2582545"/>
            <a:ext cx="7414260" cy="31705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45730" y="2472690"/>
            <a:ext cx="4272915" cy="3614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提供两个代码生成后端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branch </a:t>
            </a:r>
            <a:r>
              <a:rPr lang="en-US" altLang="zh-CN">
                <a:solidFill>
                  <a:srgbClr val="FF0000"/>
                </a:solidFill>
              </a:rPr>
              <a:t>ascendc_pto</a:t>
            </a:r>
            <a:r>
              <a:rPr lang="en-US" altLang="zh-CN"/>
              <a:t>：</a:t>
            </a:r>
            <a:r>
              <a:rPr lang="zh-CN" altLang="en-US"/>
              <a:t>代码生成为</a:t>
            </a:r>
            <a:r>
              <a:rPr lang="en-US" altLang="zh-CN"/>
              <a:t>ascendc</a:t>
            </a:r>
            <a:r>
              <a:rPr lang="zh-CN" altLang="en-US"/>
              <a:t>或者</a:t>
            </a:r>
            <a:r>
              <a:rPr lang="en-US" altLang="zh-CN"/>
              <a:t>pto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branch </a:t>
            </a:r>
            <a:r>
              <a:rPr lang="en-US" altLang="zh-CN">
                <a:solidFill>
                  <a:srgbClr val="FF0000"/>
                </a:solidFill>
              </a:rPr>
              <a:t>npuir</a:t>
            </a:r>
            <a:r>
              <a:rPr lang="en-US" altLang="zh-CN"/>
              <a:t>：</a:t>
            </a:r>
            <a:r>
              <a:rPr lang="zh-CN" altLang="en-US"/>
              <a:t>代码生成为</a:t>
            </a:r>
            <a:r>
              <a:rPr lang="en-US" altLang="zh-CN"/>
              <a:t>AscendNPU IR，</a:t>
            </a:r>
            <a:r>
              <a:rPr lang="zh-CN" altLang="en-US"/>
              <a:t>会进一步通过编译器</a:t>
            </a:r>
            <a:r>
              <a:rPr lang="zh-CN" altLang="en-US"/>
              <a:t>优化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/>
          <a:lstStyle/>
          <a:p>
            <a:r>
              <a:rPr lang="en-US" altLang="zh-CN" b="1" dirty="0"/>
              <a:t>System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GB" altLang="zh-CN" b="1" dirty="0"/>
          </a:p>
        </p:txBody>
      </p:sp>
      <p:sp>
        <p:nvSpPr>
          <p:cNvPr id="3" name="文本框 29"/>
          <p:cNvSpPr txBox="1"/>
          <p:nvPr/>
        </p:nvSpPr>
        <p:spPr>
          <a:xfrm>
            <a:off x="887730" y="508635"/>
            <a:ext cx="7655560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整体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工作流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9046210" y="250180"/>
            <a:ext cx="2880000" cy="720000"/>
          </a:xfrm>
          <a:prstGeom prst="rect">
            <a:avLst/>
          </a:prstGeom>
          <a:noFill/>
        </p:spPr>
      </p:pic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720340" y="1617345"/>
            <a:ext cx="663829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/>
          <a:lstStyle/>
          <a:p>
            <a:r>
              <a:rPr lang="en-US" altLang="zh-CN" b="1" dirty="0"/>
              <a:t>System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GB" altLang="zh-CN" b="1" dirty="0"/>
          </a:p>
        </p:txBody>
      </p:sp>
      <p:sp>
        <p:nvSpPr>
          <p:cNvPr id="3" name="文本框 29"/>
          <p:cNvSpPr txBox="1"/>
          <p:nvPr/>
        </p:nvSpPr>
        <p:spPr>
          <a:xfrm>
            <a:off x="887730" y="508635"/>
            <a:ext cx="7655560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核心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API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9046210" y="250180"/>
            <a:ext cx="2880000" cy="720000"/>
          </a:xfrm>
          <a:prstGeom prst="rect">
            <a:avLst/>
          </a:prstGeom>
          <a:noFill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5" y="1804670"/>
            <a:ext cx="10515600" cy="4279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49095" y="2316798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Part II:</a:t>
            </a:r>
            <a:b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编程实战</a:t>
            </a:r>
            <a:endParaRPr kumimoji="1" lang="zh-CN" altLang="en-US" dirty="0" err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6210" y="250180"/>
            <a:ext cx="2880000" cy="720000"/>
          </a:xfrm>
          <a:prstGeom prst="rect">
            <a:avLst/>
          </a:prstGeom>
          <a:noFill/>
        </p:spPr>
      </p:pic>
      <p:sp>
        <p:nvSpPr>
          <p:cNvPr id="11" name="矩形 32"/>
          <p:cNvSpPr/>
          <p:nvPr/>
        </p:nvSpPr>
        <p:spPr>
          <a:xfrm>
            <a:off x="0" y="231775"/>
            <a:ext cx="8618220" cy="738505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 29"/>
          <p:cNvSpPr txBox="1"/>
          <p:nvPr/>
        </p:nvSpPr>
        <p:spPr>
          <a:xfrm>
            <a:off x="887706" y="508869"/>
            <a:ext cx="165227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de-DE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MatMul</a:t>
            </a:r>
            <a:endParaRPr lang="en-US" altLang="de-DE" sz="32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17" name="矩形 40"/>
          <p:cNvSpPr/>
          <p:nvPr/>
        </p:nvSpPr>
        <p:spPr>
          <a:xfrm flipV="1">
            <a:off x="7163693" y="6772905"/>
            <a:ext cx="4682001" cy="128741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0495" y="250180"/>
            <a:ext cx="2880000" cy="720000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214755"/>
            <a:ext cx="67691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/>
          <a:lstStyle/>
          <a:p>
            <a:r>
              <a:rPr lang="en-US" altLang="zh-CN" b="1" dirty="0"/>
              <a:t>System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GB" altLang="zh-CN" b="1" dirty="0"/>
          </a:p>
        </p:txBody>
      </p:sp>
      <p:sp>
        <p:nvSpPr>
          <p:cNvPr id="3" name="文本框 29"/>
          <p:cNvSpPr txBox="1"/>
          <p:nvPr/>
        </p:nvSpPr>
        <p:spPr>
          <a:xfrm>
            <a:off x="887730" y="508635"/>
            <a:ext cx="7655560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RMSNorm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9046210" y="250180"/>
            <a:ext cx="2880000" cy="720000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30" y="2021840"/>
            <a:ext cx="8971915" cy="1598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文本框 9"/>
          <p:cNvSpPr txBox="1"/>
          <p:nvPr/>
        </p:nvSpPr>
        <p:spPr>
          <a:xfrm>
            <a:off x="3654478" y="2721114"/>
            <a:ext cx="5933726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  <a:endParaRPr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5" name="组合 32"/>
          <p:cNvGrpSpPr/>
          <p:nvPr/>
        </p:nvGrpSpPr>
        <p:grpSpPr>
          <a:xfrm>
            <a:off x="316910" y="0"/>
            <a:ext cx="507831" cy="3703792"/>
            <a:chOff x="381322" y="1224343"/>
            <a:chExt cx="507831" cy="3703792"/>
          </a:xfrm>
        </p:grpSpPr>
        <p:sp>
          <p:nvSpPr>
            <p:cNvPr id="386" name="文本框 33"/>
            <p:cNvSpPr txBox="1"/>
            <p:nvPr/>
          </p:nvSpPr>
          <p:spPr>
            <a:xfrm>
              <a:off x="381322" y="1677524"/>
              <a:ext cx="507831" cy="2900143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r>
                <a:rPr lang="en-US" sz="2100">
                  <a:solidFill>
                    <a:schemeClr val="bg1"/>
                  </a:solidFill>
                  <a:latin typeface="FZCuHeiSongS-B-GB"/>
                  <a:ea typeface="FZCuHeiSongS-B-GB"/>
                </a:rPr>
                <a:t>Peking</a:t>
              </a:r>
              <a:r>
                <a:rPr lang="zh-CN" sz="2100">
                  <a:solidFill>
                    <a:schemeClr val="bg1"/>
                  </a:solidFill>
                  <a:latin typeface="FZCuHeiSongS-B-GB"/>
                  <a:ea typeface="FZCuHeiSongS-B-GB"/>
                </a:rPr>
                <a:t> </a:t>
              </a:r>
              <a:r>
                <a:rPr lang="en-US" sz="2100">
                  <a:solidFill>
                    <a:schemeClr val="bg1"/>
                  </a:solidFill>
                  <a:latin typeface="FZCuHeiSongS-B-GB"/>
                  <a:ea typeface="FZCuHeiSongS-B-GB"/>
                </a:rPr>
                <a:t>University</a:t>
              </a:r>
              <a:endParaRPr lang="zh-CN" sz="2100">
                <a:solidFill>
                  <a:schemeClr val="bg1"/>
                </a:solidFill>
                <a:latin typeface="FZCuHeiSongS-B-GB"/>
                <a:ea typeface="FZCuHeiSongS-B-GB"/>
              </a:endParaRPr>
            </a:p>
          </p:txBody>
        </p:sp>
        <p:cxnSp>
          <p:nvCxnSpPr>
            <p:cNvPr id="387" name="直接连接符 26"/>
            <p:cNvCxnSpPr/>
            <p:nvPr/>
          </p:nvCxnSpPr>
          <p:spPr>
            <a:xfrm>
              <a:off x="621617" y="1224343"/>
              <a:ext cx="0" cy="314885"/>
            </a:xfrm>
            <a:prstGeom prst="line">
              <a:avLst/>
            </a:prstGeom>
            <a:ln w="76200">
              <a:solidFill>
                <a:srgbClr val="9A0000"/>
              </a:solidFill>
              <a:prstDash val="solid"/>
              <a:miter lim="800000"/>
            </a:ln>
          </p:spPr>
        </p:cxnSp>
        <p:cxnSp>
          <p:nvCxnSpPr>
            <p:cNvPr id="388" name="直接连接符 33"/>
            <p:cNvCxnSpPr/>
            <p:nvPr/>
          </p:nvCxnSpPr>
          <p:spPr>
            <a:xfrm>
              <a:off x="635238" y="4131406"/>
              <a:ext cx="0" cy="796729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  <a:miter lim="800000"/>
            </a:ln>
          </p:spPr>
        </p:cxnSp>
      </p:grpSp>
      <p:sp>
        <p:nvSpPr>
          <p:cNvPr id="390" name="矩形 37"/>
          <p:cNvSpPr/>
          <p:nvPr/>
        </p:nvSpPr>
        <p:spPr>
          <a:xfrm>
            <a:off x="3611229" y="6831223"/>
            <a:ext cx="8606804" cy="69069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思源黑体 CN Light"/>
              <a:ea typeface="思源黑体 CN Light"/>
            </a:endParaRPr>
          </a:p>
        </p:txBody>
      </p:sp>
      <p:pic>
        <p:nvPicPr>
          <p:cNvPr id="393" name="图片 7"/>
          <p:cNvPicPr>
            <a:picLocks noChangeAspect="1"/>
          </p:cNvPicPr>
          <p:nvPr/>
        </p:nvPicPr>
        <p:blipFill>
          <a:blip r:embed="rId1">
            <a:lum/>
          </a:blip>
          <a:stretch>
            <a:fillRect/>
          </a:stretch>
        </p:blipFill>
        <p:spPr>
          <a:xfrm>
            <a:off x="8784925" y="4686884"/>
            <a:ext cx="1836080" cy="517206"/>
          </a:xfrm>
          <a:prstGeom prst="rect">
            <a:avLst/>
          </a:prstGeom>
        </p:spPr>
      </p:pic>
      <p:sp>
        <p:nvSpPr>
          <p:cNvPr id="394" name="矩形 30"/>
          <p:cNvSpPr/>
          <p:nvPr/>
        </p:nvSpPr>
        <p:spPr>
          <a:xfrm>
            <a:off x="0" y="6424069"/>
            <a:ext cx="400755" cy="436168"/>
          </a:xfrm>
          <a:prstGeom prst="rect">
            <a:avLst/>
          </a:prstGeom>
          <a:solidFill>
            <a:srgbClr val="9A000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思源黑体 CN Light"/>
              <a:ea typeface="思源黑体 CN Ligh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2NkZTQ2NzBhOTY1ZTA0YmJiM2JmZmJiNDRiZTU5M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WPS 演示</Application>
  <PresentationFormat>宽屏</PresentationFormat>
  <Paragraphs>95</Paragraphs>
  <Slides>13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5" baseType="lpstr">
      <vt:lpstr>Arial</vt:lpstr>
      <vt:lpstr>宋体</vt:lpstr>
      <vt:lpstr>Wingdings</vt:lpstr>
      <vt:lpstr>等线</vt:lpstr>
      <vt:lpstr>汉仪中等线KW</vt:lpstr>
      <vt:lpstr>等线 Light</vt:lpstr>
      <vt:lpstr>微软雅黑</vt:lpstr>
      <vt:lpstr>汉仪旗黑</vt:lpstr>
      <vt:lpstr>Segoe UI</vt:lpstr>
      <vt:lpstr>苹方-简</vt:lpstr>
      <vt:lpstr>HP Simplified Hans</vt:lpstr>
      <vt:lpstr>Calibri</vt:lpstr>
      <vt:lpstr>FZCuHeiSongS-B-GB</vt:lpstr>
      <vt:lpstr>思源黑体 CN Light</vt:lpstr>
      <vt:lpstr>汉仪书宋二KW</vt:lpstr>
      <vt:lpstr>Helvetica Neue</vt:lpstr>
      <vt:lpstr>Thonburi</vt:lpstr>
      <vt:lpstr>汉仪中黑KW</vt:lpstr>
      <vt:lpstr>宋体</vt:lpstr>
      <vt:lpstr>Arial Unicode MS</vt:lpstr>
      <vt:lpstr>FZCuHeiSongS-B-GB</vt:lpstr>
      <vt:lpstr>HP Simplified Hans</vt:lpstr>
      <vt:lpstr>微软雅黑</vt:lpstr>
      <vt:lpstr>思源黑体 CN Light</vt:lpstr>
      <vt:lpstr>等线</vt:lpstr>
      <vt:lpstr>Wingdings</vt:lpstr>
      <vt:lpstr>Times New Roman</vt:lpstr>
      <vt:lpstr>Noto Sans SC</vt:lpstr>
      <vt:lpstr>ADLaM Display</vt:lpstr>
      <vt:lpstr>Arial</vt:lpstr>
      <vt:lpstr>冬青黑体简体中文</vt:lpstr>
      <vt:lpstr>Office 主题​​</vt:lpstr>
      <vt:lpstr>PowerPoint 演示文稿</vt:lpstr>
      <vt:lpstr>Part I: TileLang介绍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System Overview</vt:lpstr>
      <vt:lpstr>System Overview</vt:lpstr>
      <vt:lpstr>Part II: 融合算子编程（以DSA计算为例）</vt:lpstr>
      <vt:lpstr>PowerPoint 演示文稿</vt:lpstr>
      <vt:lpstr>System Overview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xwh</cp:lastModifiedBy>
  <cp:revision>489</cp:revision>
  <dcterms:created xsi:type="dcterms:W3CDTF">2026-01-29T07:30:26Z</dcterms:created>
  <dcterms:modified xsi:type="dcterms:W3CDTF">2026-01-29T07:30:26Z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BAB13177435E3A4556F57A69318E4D9E_43</vt:lpwstr>
  </property>
  <property fmtid="{D5CDD505-2E9C-101B-9397-08002B2CF9AE}" pid="3" name="KSOProductBuildVer">
    <vt:lpwstr>2052-12.1.24031.24031</vt:lpwstr>
  </property>
</Properties>
</file>