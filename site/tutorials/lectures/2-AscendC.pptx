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notesSlides/notesSlide7.xml" ContentType="application/vnd.openxmlformats-officedocument.presentationml.notesSlide+xml"/>
  <Override PartName="/ppt/tags/tag20.xml" ContentType="application/vnd.openxmlformats-officedocument.presentationml.tags+xml"/>
  <Override PartName="/ppt/notesSlides/notesSlide8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9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0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1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2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3.xml" ContentType="application/vnd.openxmlformats-officedocument.presentationml.notesSlide+xml"/>
  <Override PartName="/ppt/tags/tag31.xml" ContentType="application/vnd.openxmlformats-officedocument.presentationml.tags+xml"/>
  <Override PartName="/ppt/notesSlides/notesSlide14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5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6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7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9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20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21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22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9" r:id="rId3"/>
    <p:sldId id="301" r:id="rId4"/>
    <p:sldId id="302" r:id="rId5"/>
    <p:sldId id="304" r:id="rId6"/>
    <p:sldId id="305" r:id="rId7"/>
    <p:sldId id="307" r:id="rId8"/>
    <p:sldId id="309" r:id="rId9"/>
    <p:sldId id="310" r:id="rId10"/>
    <p:sldId id="311" r:id="rId11"/>
    <p:sldId id="322" r:id="rId12"/>
    <p:sldId id="323" r:id="rId13"/>
    <p:sldId id="324" r:id="rId14"/>
    <p:sldId id="325" r:id="rId15"/>
    <p:sldId id="320" r:id="rId16"/>
    <p:sldId id="321" r:id="rId17"/>
    <p:sldId id="316" r:id="rId18"/>
    <p:sldId id="318" r:id="rId19"/>
    <p:sldId id="327" r:id="rId20"/>
    <p:sldId id="326" r:id="rId21"/>
    <p:sldId id="319" r:id="rId22"/>
    <p:sldId id="296" r:id="rId23"/>
    <p:sldId id="258" r:id="rId24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FFFFFF"/>
    <a:srgbClr val="DCDCDC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87" autoAdjust="0"/>
    <p:restoredTop sz="71010" autoAdjust="0"/>
  </p:normalViewPr>
  <p:slideViewPr>
    <p:cSldViewPr snapToGrid="0" showGuides="1">
      <p:cViewPr varScale="1">
        <p:scale>
          <a:sx n="44" d="100"/>
          <a:sy n="44" d="100"/>
        </p:scale>
        <p:origin x="1396" y="3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91BB2-850D-4D3D-B42E-9F24E15F99BF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48D6E-2EF5-4216-AC1E-3E024C8E8F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58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iascend.com/document/detail/zh/CANNCommunityEdition/800alpha003/devguide/opdevg/tbeaicpudevg/atlasopdev_10_0008.html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bs.huaweicloud.com/blogs/469235" TargetMode="External"/><Relationship Id="rId5" Type="http://schemas.openxmlformats.org/officeDocument/2006/relationships/hyperlink" Target="https://www.hiascend.com/document/detail/zh/CANNCommunityEdition/800alpha003/devguide/opdevg/ascendcopdevg/atlas_ascendc_10_0008.html#ZH-CN_TOPIC_0000002151412117__section381591419515" TargetMode="External"/><Relationship Id="rId4" Type="http://schemas.openxmlformats.org/officeDocument/2006/relationships/hyperlink" Target="https://developer.aliyun.com/article/1642737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今天华为的专家时间没协调好，所以我们简单讲下</a:t>
            </a:r>
            <a:r>
              <a:rPr lang="en-US" altLang="zh-CN" dirty="0" err="1"/>
              <a:t>AscendC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880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361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AscendC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是算子开发的基础语言，后面的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Tilelang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-Ascend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其实中间会通过编译器编译为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AscendC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，不过使用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AscendC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开发难度比较大，直接调用算子库则性能不太好。所以我们采取折中的方法，使用一种居于中间位置的语言进行开发。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这里讲解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AscendC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，开发的同学如果追求极致性能可以尝试。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075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硬件架构分为了</a:t>
            </a:r>
            <a:r>
              <a:rPr lang="en-US" altLang="zh-CN" dirty="0"/>
              <a:t>Host</a:t>
            </a:r>
            <a:r>
              <a:rPr lang="zh-CN" altLang="en-US" dirty="0"/>
              <a:t>侧和</a:t>
            </a:r>
            <a:r>
              <a:rPr lang="en-US" altLang="zh-CN" dirty="0"/>
              <a:t>Device</a:t>
            </a:r>
            <a:r>
              <a:rPr lang="zh-CN" altLang="en-US" dirty="0"/>
              <a:t>侧，其中，核函数可以被在</a:t>
            </a:r>
            <a:r>
              <a:rPr lang="en-US" altLang="zh-CN" dirty="0"/>
              <a:t>Host</a:t>
            </a:r>
            <a:r>
              <a:rPr lang="zh-CN" altLang="en-US" dirty="0"/>
              <a:t>侧调用，在</a:t>
            </a:r>
            <a:r>
              <a:rPr lang="en-US" altLang="zh-CN" dirty="0"/>
              <a:t>Device</a:t>
            </a:r>
            <a:r>
              <a:rPr lang="zh-CN" altLang="en-US" dirty="0"/>
              <a:t>侧分配到</a:t>
            </a:r>
            <a:r>
              <a:rPr lang="en-US" altLang="zh-CN" dirty="0"/>
              <a:t>ai core</a:t>
            </a:r>
            <a:r>
              <a:rPr lang="zh-CN" altLang="en-US" dirty="0"/>
              <a:t>里面运行。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366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如图所示，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0364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874F2-929A-F91B-8276-64BAF1252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C2C35E-D24B-B178-0FD5-AC175497A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A5EDBF-215A-4576-95D1-8F226EE1C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chemeClr val="tx1"/>
                </a:solidFill>
              </a:rPr>
              <a:t>矩阵计算单元（</a:t>
            </a:r>
            <a:r>
              <a:rPr lang="en-US" altLang="zh-CN" sz="1200" dirty="0">
                <a:solidFill>
                  <a:schemeClr val="tx1"/>
                </a:solidFill>
              </a:rPr>
              <a:t>Cube Unit</a:t>
            </a:r>
            <a:r>
              <a:rPr lang="zh-CN" altLang="en-US" sz="1200" dirty="0">
                <a:solidFill>
                  <a:schemeClr val="tx1"/>
                </a:solidFill>
              </a:rPr>
              <a:t>）、向量计算单元（</a:t>
            </a:r>
            <a:r>
              <a:rPr lang="en-US" altLang="zh-CN" sz="1200" dirty="0">
                <a:solidFill>
                  <a:schemeClr val="tx1"/>
                </a:solidFill>
              </a:rPr>
              <a:t>Vector Unit</a:t>
            </a:r>
            <a:r>
              <a:rPr lang="zh-CN" altLang="en-US" sz="1200" dirty="0">
                <a:solidFill>
                  <a:schemeClr val="tx1"/>
                </a:solidFill>
              </a:rPr>
              <a:t>）和标量计算单元（</a:t>
            </a:r>
            <a:r>
              <a:rPr lang="en-US" altLang="zh-CN" sz="1200" dirty="0">
                <a:solidFill>
                  <a:schemeClr val="tx1"/>
                </a:solidFill>
              </a:rPr>
              <a:t>Scalar Unit</a:t>
            </a:r>
            <a:r>
              <a:rPr lang="zh-CN" altLang="en-US" sz="1200" dirty="0">
                <a:solidFill>
                  <a:schemeClr val="tx1"/>
                </a:solidFill>
              </a:rPr>
              <a:t>）这三种计算单元分别对应了张量、向量和标量三种常见的计算模式</a:t>
            </a:r>
            <a:endParaRPr lang="en-US" altLang="zh-CN" dirty="0"/>
          </a:p>
          <a:p>
            <a:r>
              <a:rPr lang="en-US" altLang="zh-CN" dirty="0"/>
              <a:t>Cube</a:t>
            </a:r>
            <a:r>
              <a:rPr lang="zh-CN" altLang="en-US" dirty="0"/>
              <a:t>负责执行矩阵运算。每次执行可以完成一个</a:t>
            </a:r>
            <a:r>
              <a:rPr lang="en-US" altLang="zh-CN" dirty="0"/>
              <a:t>fp16</a:t>
            </a:r>
            <a:r>
              <a:rPr lang="zh-CN" altLang="en-US" dirty="0"/>
              <a:t>的</a:t>
            </a:r>
            <a:r>
              <a:rPr lang="en-US" altLang="zh-CN" dirty="0"/>
              <a:t>16*16</a:t>
            </a:r>
            <a:r>
              <a:rPr lang="zh-CN" altLang="en-US" dirty="0"/>
              <a:t>与</a:t>
            </a:r>
            <a:r>
              <a:rPr lang="en-US" altLang="zh-CN" dirty="0"/>
              <a:t>16*16</a:t>
            </a:r>
            <a:r>
              <a:rPr lang="zh-CN" altLang="en-US" dirty="0"/>
              <a:t>的矩阵乘</a:t>
            </a:r>
            <a:br>
              <a:rPr lang="en-US" altLang="zh-CN" dirty="0"/>
            </a:br>
            <a:r>
              <a:rPr lang="zh-CN" altLang="en-US" dirty="0"/>
              <a:t>若是</a:t>
            </a:r>
            <a:r>
              <a:rPr lang="en-US" altLang="zh-CN" dirty="0"/>
              <a:t>int8</a:t>
            </a:r>
            <a:r>
              <a:rPr lang="zh-CN" altLang="en-US" dirty="0"/>
              <a:t>输入，则一次完成</a:t>
            </a:r>
            <a:r>
              <a:rPr lang="en-US" altLang="zh-CN" dirty="0"/>
              <a:t>16*32</a:t>
            </a:r>
            <a:r>
              <a:rPr lang="zh-CN" altLang="en-US" dirty="0"/>
              <a:t>与</a:t>
            </a:r>
            <a:r>
              <a:rPr lang="en-US" altLang="zh-CN" dirty="0"/>
              <a:t>32*16</a:t>
            </a:r>
            <a:r>
              <a:rPr lang="zh-CN" altLang="en-US" dirty="0"/>
              <a:t>的矩阵乘</a:t>
            </a:r>
            <a:endParaRPr lang="en-US" altLang="zh-CN" dirty="0"/>
          </a:p>
          <a:p>
            <a:r>
              <a:rPr lang="en-US" altLang="zh-CN" dirty="0"/>
              <a:t>Vector</a:t>
            </a:r>
            <a:r>
              <a:rPr lang="zh-CN" altLang="en-US" dirty="0"/>
              <a:t>负责执行向量运算。 算力低于</a:t>
            </a:r>
            <a:r>
              <a:rPr lang="en-US" altLang="zh-CN" dirty="0"/>
              <a:t>Cube</a:t>
            </a:r>
            <a:r>
              <a:rPr lang="zh-CN" altLang="en-US" dirty="0"/>
              <a:t>，但灵活（如支持数学中的求倒数开根等）。</a:t>
            </a:r>
            <a:r>
              <a:rPr lang="en-US" altLang="zh-CN" dirty="0"/>
              <a:t>Vector</a:t>
            </a:r>
            <a:r>
              <a:rPr lang="zh-CN" altLang="en-US" dirty="0"/>
              <a:t>所有计算的源数据以及目标数据都要求</a:t>
            </a:r>
            <a:r>
              <a:rPr lang="en-US" altLang="zh-CN" dirty="0"/>
              <a:t>32Byte</a:t>
            </a:r>
            <a:r>
              <a:rPr lang="zh-CN" altLang="en-US" dirty="0"/>
              <a:t>对齐。</a:t>
            </a:r>
            <a:endParaRPr lang="en-US" altLang="zh-CN" dirty="0"/>
          </a:p>
          <a:p>
            <a:r>
              <a:rPr lang="en-US" altLang="zh-CN" dirty="0"/>
              <a:t>Scalar</a:t>
            </a:r>
            <a:r>
              <a:rPr lang="zh-CN" altLang="en-US" dirty="0"/>
              <a:t>负责各类型的标量数据运算和程序的流程控制。</a:t>
            </a:r>
            <a:br>
              <a:rPr lang="en-US" altLang="zh-CN" dirty="0"/>
            </a:br>
            <a:br>
              <a:rPr lang="en-US" altLang="zh-CN" dirty="0"/>
            </a:br>
            <a:r>
              <a:rPr lang="it-IT" altLang="zh-CN" dirty="0"/>
              <a:t>AI Core</a:t>
            </a:r>
            <a:r>
              <a:rPr lang="zh-CN" altLang="it-IT" dirty="0"/>
              <a:t>架构 参考链接：</a:t>
            </a:r>
            <a:r>
              <a:rPr lang="it-IT" altLang="zh-CN" dirty="0">
                <a:hlinkClick r:id="rId3"/>
              </a:rPr>
              <a:t>https://www.hiascend.com/document/detail/zh/CANNCommunityEdition/800alpha003/devguide/opdevg/tbeaicpudevg/atlasopdev_10_0008.html</a:t>
            </a:r>
            <a:endParaRPr lang="it-IT" altLang="zh-CN" dirty="0"/>
          </a:p>
          <a:p>
            <a:r>
              <a:rPr lang="it-IT" altLang="zh-CN" dirty="0">
                <a:hlinkClick r:id="rId4"/>
              </a:rPr>
              <a:t>https://developer.aliyun.com/article/1642737</a:t>
            </a:r>
            <a:br>
              <a:rPr lang="it-IT" altLang="zh-CN" dirty="0"/>
            </a:br>
            <a:r>
              <a:rPr lang="zh-CN" altLang="en-US" dirty="0"/>
              <a:t>耦合架构分离架构参考链接</a:t>
            </a:r>
          </a:p>
          <a:p>
            <a:r>
              <a:rPr lang="en-US" altLang="zh-CN" dirty="0">
                <a:hlinkClick r:id="rId5"/>
              </a:rPr>
              <a:t>https://www.hiascend.com/document/detail/zh/CANNCommunityEdition/800alpha003/devguide/opdevg/ascendcopdevg/atlas_ascendc_10_0008.html#ZH-CN_TOPIC_0000002151412117__section381591419515</a:t>
            </a:r>
            <a:endParaRPr lang="en-US" altLang="zh-CN" dirty="0"/>
          </a:p>
          <a:p>
            <a:r>
              <a:rPr lang="en-US" altLang="zh-CN" dirty="0">
                <a:hlinkClick r:id="rId6"/>
              </a:rPr>
              <a:t>https://bbs.huaweicloud.com/blogs/469235</a:t>
            </a:r>
            <a:endParaRPr lang="en-US" altLang="zh-CN" dirty="0"/>
          </a:p>
          <a:p>
            <a:endParaRPr lang="it-IT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08AD88-2237-882A-447B-6C7F2E0C5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563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14248-0E9B-544D-D141-DF259EACF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D30CC4-D87E-B690-0589-0DCC2757A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443E76-4645-244C-1D88-B061263DF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chemeClr val="tx1"/>
                </a:solidFill>
              </a:rPr>
              <a:t>很多传统处理器不同，</a:t>
            </a:r>
            <a:r>
              <a:rPr lang="en-US" altLang="zh-CN" sz="1200" dirty="0">
                <a:solidFill>
                  <a:schemeClr val="tx1"/>
                </a:solidFill>
              </a:rPr>
              <a:t>Ascend </a:t>
            </a:r>
            <a:r>
              <a:rPr lang="zh-CN" altLang="en-US" sz="1200" dirty="0">
                <a:solidFill>
                  <a:schemeClr val="tx1"/>
                </a:solidFill>
              </a:rPr>
              <a:t>的 </a:t>
            </a:r>
            <a:r>
              <a:rPr lang="en-US" altLang="zh-CN" sz="1200" dirty="0">
                <a:solidFill>
                  <a:schemeClr val="tx1"/>
                </a:solidFill>
              </a:rPr>
              <a:t>AI Core </a:t>
            </a:r>
            <a:r>
              <a:rPr lang="zh-CN" altLang="en-US" sz="1200" dirty="0">
                <a:solidFill>
                  <a:schemeClr val="tx1"/>
                </a:solidFill>
              </a:rPr>
              <a:t>并非固定架构，而是随着产品演进演化出两种不同的形态：</a:t>
            </a:r>
            <a:r>
              <a:rPr lang="zh-CN" altLang="en-US" sz="1200" b="1" dirty="0">
                <a:solidFill>
                  <a:schemeClr val="tx1"/>
                </a:solidFill>
              </a:rPr>
              <a:t>耦合式架构</a:t>
            </a:r>
            <a:r>
              <a:rPr lang="zh-CN" altLang="en-US" sz="1200" dirty="0">
                <a:solidFill>
                  <a:schemeClr val="tx1"/>
                </a:solidFill>
              </a:rPr>
              <a:t>与</a:t>
            </a:r>
            <a:r>
              <a:rPr lang="zh-CN" altLang="en-US" sz="1200" b="1" dirty="0">
                <a:solidFill>
                  <a:schemeClr val="tx1"/>
                </a:solidFill>
              </a:rPr>
              <a:t>分离式架构</a:t>
            </a:r>
            <a:r>
              <a:rPr lang="zh-CN" altLang="en-US" sz="1200" dirty="0">
                <a:solidFill>
                  <a:schemeClr val="tx1"/>
                </a:solidFill>
              </a:rPr>
              <a:t>。这里展示的是耦合架构，一个</a:t>
            </a:r>
            <a:r>
              <a:rPr lang="en-US" altLang="zh-CN" sz="1200" dirty="0">
                <a:solidFill>
                  <a:schemeClr val="tx1"/>
                </a:solidFill>
              </a:rPr>
              <a:t>ai core</a:t>
            </a:r>
            <a:r>
              <a:rPr lang="zh-CN" altLang="en-US" sz="1200" dirty="0">
                <a:solidFill>
                  <a:schemeClr val="tx1"/>
                </a:solidFill>
              </a:rPr>
              <a:t>同时具备了矩阵，向量，标量的计算单元。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16BF28-70C9-2AD0-12E2-20148CB33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5975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73451-662F-AE72-38FB-399B0C6BB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29C473-6103-BC5F-7474-3B134ADFA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E17751-B426-497D-B250-56A61FCEC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新硬件采用了</a:t>
            </a:r>
            <a:r>
              <a:rPr lang="zh-CN" altLang="en-US" b="1" dirty="0">
                <a:effectLst/>
              </a:rPr>
              <a:t>分离式 </a:t>
            </a:r>
            <a:r>
              <a:rPr lang="en-US" altLang="zh-CN" b="1" dirty="0">
                <a:effectLst/>
              </a:rPr>
              <a:t>AI Core </a:t>
            </a:r>
            <a:r>
              <a:rPr lang="zh-CN" altLang="en-US" b="1" dirty="0">
                <a:effectLst/>
              </a:rPr>
              <a:t>设计</a:t>
            </a:r>
            <a:r>
              <a:rPr lang="zh-CN" altLang="en-US" dirty="0"/>
              <a:t>。</a:t>
            </a:r>
            <a:r>
              <a:rPr lang="en-US" altLang="zh-CN" dirty="0"/>
              <a:t>AIC </a:t>
            </a:r>
            <a:r>
              <a:rPr lang="zh-CN" altLang="en-US" dirty="0"/>
              <a:t>专注矩阵计算，</a:t>
            </a:r>
            <a:r>
              <a:rPr lang="en-US" altLang="zh-CN" dirty="0"/>
              <a:t>AIV </a:t>
            </a:r>
            <a:r>
              <a:rPr lang="zh-CN" altLang="en-US" dirty="0"/>
              <a:t>专注向量计算</a:t>
            </a:r>
            <a:endParaRPr lang="en-US" altLang="zh-CN" dirty="0"/>
          </a:p>
          <a:p>
            <a:r>
              <a:rPr lang="zh-CN" altLang="en-US" dirty="0"/>
              <a:t>我们测试的机器</a:t>
            </a:r>
            <a:r>
              <a:rPr lang="en-US" altLang="zh-CN" dirty="0"/>
              <a:t>910B</a:t>
            </a:r>
            <a:r>
              <a:rPr lang="zh-CN" altLang="en-US" dirty="0"/>
              <a:t>就是分离架构</a:t>
            </a:r>
            <a:endParaRPr lang="en-US" altLang="zh-CN" dirty="0"/>
          </a:p>
          <a:p>
            <a:r>
              <a:rPr lang="zh-CN" altLang="en-US" dirty="0"/>
              <a:t>分离架构最大的意义在于允许开发者把算子拆分为</a:t>
            </a:r>
            <a:r>
              <a:rPr lang="zh-CN" altLang="en-US" b="1" dirty="0">
                <a:effectLst/>
              </a:rPr>
              <a:t>矩阵路径</a:t>
            </a:r>
            <a:r>
              <a:rPr lang="zh-CN" altLang="en-US" dirty="0"/>
              <a:t>与</a:t>
            </a:r>
            <a:r>
              <a:rPr lang="zh-CN" altLang="en-US" b="1" dirty="0">
                <a:effectLst/>
              </a:rPr>
              <a:t>向量路径</a:t>
            </a:r>
            <a:r>
              <a:rPr lang="zh-CN" altLang="en-US" dirty="0"/>
              <a:t>两个执行流程，通过并行调度把硬件效率推向另一种层级。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D3D9DF-D48F-3917-0CBA-01917A98E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74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这里展示的是数据传输的过程，分为</a:t>
            </a:r>
            <a:r>
              <a:rPr lang="en-US" altLang="zh-CN" dirty="0" err="1"/>
              <a:t>CopyIn</a:t>
            </a:r>
            <a:r>
              <a:rPr lang="zh-CN" altLang="en-US" dirty="0"/>
              <a:t>， </a:t>
            </a:r>
            <a:r>
              <a:rPr lang="en-US" altLang="zh-CN" dirty="0"/>
              <a:t>Compute</a:t>
            </a:r>
            <a:r>
              <a:rPr lang="zh-CN" altLang="en-US" dirty="0"/>
              <a:t>，</a:t>
            </a:r>
            <a:r>
              <a:rPr lang="en-US" altLang="zh-CN" dirty="0" err="1"/>
              <a:t>CopyOut</a:t>
            </a:r>
            <a:r>
              <a:rPr lang="zh-CN" altLang="en-US" dirty="0"/>
              <a:t>这三个部分。</a:t>
            </a:r>
            <a:endParaRPr lang="en-US" altLang="zh-CN" dirty="0"/>
          </a:p>
          <a:p>
            <a:r>
              <a:rPr lang="zh-CN" altLang="en-US" dirty="0"/>
              <a:t>这里可能看起来很吓人，这是由</a:t>
            </a:r>
            <a:r>
              <a:rPr lang="en-US" altLang="zh-CN" dirty="0" err="1"/>
              <a:t>AscendC</a:t>
            </a:r>
            <a:r>
              <a:rPr lang="zh-CN" altLang="en-US" dirty="0"/>
              <a:t>设计的</a:t>
            </a:r>
            <a:r>
              <a:rPr lang="en-US" altLang="zh-CN" dirty="0" err="1"/>
              <a:t>DataCopy</a:t>
            </a:r>
            <a:r>
              <a:rPr lang="zh-CN" altLang="en-US" dirty="0"/>
              <a:t>的参数类型决定的，后面会逐步走下去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72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4B31F-5FD3-E62C-2085-5F827A6DF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0468A0-62D3-CFFA-A05D-F111192A6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3CC55A-AEC3-B255-E89E-D8A393E2E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可以注意到，这里对搬运方向有比较严格的定义，数据通路方向严格要求从</a:t>
            </a:r>
            <a:r>
              <a:rPr lang="en-US" altLang="zh-CN" dirty="0"/>
              <a:t>VECIN VECCALC </a:t>
            </a:r>
            <a:r>
              <a:rPr lang="zh-CN" altLang="en-US" dirty="0"/>
              <a:t>再到</a:t>
            </a:r>
            <a:r>
              <a:rPr lang="en-US" altLang="zh-CN" dirty="0"/>
              <a:t>VECOUT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5283DA-D4D2-0E91-0ADD-FA690532C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788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52FCD-F758-F0D5-752A-4E2AFD59F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71E0DD-3C51-8F2F-E303-80A169F97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45B9D0-F834-BC8A-12F2-1589E6BEE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74DC76-A448-B16A-817B-FD43AC1C4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8078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654F0-FAFD-EC4E-C0FF-C2CBA92C7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3537F6-B8FE-AB2E-A1E8-F6E8A6B5A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2F674A-8BB7-CE47-6CE7-7E3F20E7F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Cube</a:t>
            </a:r>
            <a:r>
              <a:rPr lang="zh-CN" altLang="en-US" dirty="0"/>
              <a:t>负责执行矩阵运算。每次执行可以完成一个</a:t>
            </a:r>
            <a:r>
              <a:rPr lang="en-US" altLang="zh-CN" dirty="0"/>
              <a:t>fp16</a:t>
            </a:r>
            <a:r>
              <a:rPr lang="zh-CN" altLang="en-US" dirty="0"/>
              <a:t>的</a:t>
            </a:r>
            <a:r>
              <a:rPr lang="en-US" altLang="zh-CN" dirty="0"/>
              <a:t>16*16</a:t>
            </a:r>
            <a:r>
              <a:rPr lang="zh-CN" altLang="en-US" dirty="0"/>
              <a:t>与</a:t>
            </a:r>
            <a:r>
              <a:rPr lang="en-US" altLang="zh-CN" dirty="0"/>
              <a:t>16*16</a:t>
            </a:r>
            <a:r>
              <a:rPr lang="zh-CN" altLang="en-US" dirty="0"/>
              <a:t>的矩阵乘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A28866-8073-D3C7-63FC-3687090F8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3968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16A08-0B26-0EBA-BF1D-CB0A9D215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E90A61-AFFE-7840-2585-8585CCD30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7A0D30-5F5C-B7BE-7F8C-71B680246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Cube</a:t>
            </a:r>
            <a:r>
              <a:rPr lang="zh-CN" altLang="en-US" dirty="0"/>
              <a:t>负责执行矩阵运算。每次执行可以完成一个</a:t>
            </a:r>
            <a:r>
              <a:rPr lang="en-US" altLang="zh-CN" dirty="0"/>
              <a:t>fp16</a:t>
            </a:r>
            <a:r>
              <a:rPr lang="zh-CN" altLang="en-US" dirty="0"/>
              <a:t>的</a:t>
            </a:r>
            <a:r>
              <a:rPr lang="en-US" altLang="zh-CN" dirty="0"/>
              <a:t>16*16</a:t>
            </a:r>
            <a:r>
              <a:rPr lang="zh-CN" altLang="en-US" dirty="0"/>
              <a:t>与</a:t>
            </a:r>
            <a:r>
              <a:rPr lang="en-US" altLang="zh-CN" dirty="0"/>
              <a:t>16*16</a:t>
            </a:r>
            <a:r>
              <a:rPr lang="zh-CN" altLang="en-US" dirty="0"/>
              <a:t>的矩阵乘</a:t>
            </a:r>
            <a:endParaRPr lang="en-US" altLang="zh-CN" dirty="0"/>
          </a:p>
          <a:p>
            <a:r>
              <a:rPr lang="zh-CN" altLang="en-US" dirty="0"/>
              <a:t>数据怎么到核里</a:t>
            </a:r>
            <a:r>
              <a:rPr lang="en-US" altLang="zh-CN" dirty="0"/>
              <a:t>,</a:t>
            </a:r>
            <a:r>
              <a:rPr lang="zh-CN" altLang="en-US" dirty="0"/>
              <a:t>具体代码，比如</a:t>
            </a:r>
            <a:r>
              <a:rPr lang="en-US" altLang="zh-CN" dirty="0" err="1"/>
              <a:t>LocalTensor</a:t>
            </a:r>
            <a:r>
              <a:rPr lang="en-US" altLang="zh-CN" dirty="0"/>
              <a:t> = </a:t>
            </a:r>
            <a:r>
              <a:rPr lang="en-US" altLang="zh-CN" dirty="0" err="1"/>
              <a:t>GetblockIdx</a:t>
            </a:r>
            <a:r>
              <a:rPr lang="en-US" altLang="zh-CN" dirty="0"/>
              <a:t>()*</a:t>
            </a:r>
            <a:r>
              <a:rPr lang="zh-CN" altLang="en-US" dirty="0"/>
              <a:t>多少多少</a:t>
            </a:r>
            <a:r>
              <a:rPr lang="en-US" altLang="zh-CN" dirty="0"/>
              <a:t>,</a:t>
            </a:r>
            <a:r>
              <a:rPr lang="zh-CN" altLang="en-US" dirty="0"/>
              <a:t>这个在后面多核里有一个复杂的函数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598DF9-5EC0-D7B9-5CC0-3F73F404C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424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49F8F-CAF4-39E5-4C5A-A9420082E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7292BC-6E6E-F31F-A8A8-818D956EE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3D5CA9-781A-008F-2B10-A2ADD97E3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Cube</a:t>
            </a:r>
            <a:r>
              <a:rPr lang="zh-CN" altLang="en-US" dirty="0"/>
              <a:t>负责执行矩阵运算。每次执行可以完成一个</a:t>
            </a:r>
            <a:r>
              <a:rPr lang="en-US" altLang="zh-CN" dirty="0"/>
              <a:t>fp16</a:t>
            </a:r>
            <a:r>
              <a:rPr lang="zh-CN" altLang="en-US" dirty="0"/>
              <a:t>的</a:t>
            </a:r>
            <a:r>
              <a:rPr lang="en-US" altLang="zh-CN" dirty="0"/>
              <a:t>16*16</a:t>
            </a:r>
            <a:r>
              <a:rPr lang="zh-CN" altLang="en-US" dirty="0"/>
              <a:t>与</a:t>
            </a:r>
            <a:r>
              <a:rPr lang="en-US" altLang="zh-CN" dirty="0"/>
              <a:t>16*16</a:t>
            </a:r>
            <a:r>
              <a:rPr lang="zh-CN" altLang="en-US" dirty="0"/>
              <a:t>的矩阵乘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L1BUFFER </a:t>
            </a:r>
            <a:r>
              <a:rPr lang="zh-CN" altLang="en-US" dirty="0"/>
              <a:t>多大？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现在要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tiling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，如何计算我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tiling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的大小能够适配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L1Buffer-&gt;L0ABuffer</a:t>
            </a:r>
            <a:endParaRPr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3D39DF-F87D-B773-93BD-97FB9795B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3529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这里可以提一嘴，初步开发的时候使用算子直调方式开发</a:t>
            </a:r>
            <a:endParaRPr lang="en-US" altLang="zh-CN" dirty="0"/>
          </a:p>
          <a:p>
            <a:r>
              <a:rPr lang="en-US" altLang="zh-CN" dirty="0"/>
              <a:t>https://www.hiascend.com/document/detail/zh/CANNCommunityEdition/83RC1alpha002/opdevg/Ascendcopdevg/atlas_ascendc_10_0005.html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3016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60334-AA3E-571C-3CDA-CB1E54115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1B094C-22E0-1626-FE54-C5E00129E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CBC9F1-5653-BF13-F5C4-A7FC49AC6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4F3C94-E9C3-AC79-945A-3F66C26D3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1277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F72E1-6CB8-97FC-9039-BEB4F8D8E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01CB31-D2A5-30ED-3303-1EA102FAB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0D9433-A3E7-CD6F-3E1D-F4B2E8E56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我们讲一下多核的怎么写，这里展示的是一个算子的主要文件架构，包括算子实现，分块实现，主函数等，主要需要自定义</a:t>
            </a:r>
            <a:r>
              <a:rPr lang="en-US" altLang="zh-CN" dirty="0"/>
              <a:t>tiling</a:t>
            </a:r>
            <a:r>
              <a:rPr lang="zh-CN" altLang="en-US" dirty="0"/>
              <a:t>，自己按照语法格式写一个</a:t>
            </a:r>
            <a:r>
              <a:rPr lang="en-US" altLang="zh-CN" dirty="0"/>
              <a:t>tiling.cpp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05597E-3C18-C24D-DFA0-091C14D68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1625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85380-F76E-C998-3A88-BAE97C4CC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3E05FD-BB74-17CA-77E1-CACDE8A57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47036A-6E7C-8998-30F7-218C051D0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此处有关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SliceInfo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的编写，请参考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https://www.hiascend.com/document/detail/zh/canncommercial/83RC1/API/ascendcopapi/atlasascendc_api_07_0105.html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图一和其下方的解释，逻辑不难但是解释起来比较费劲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总之就是一个切片的动作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Core_num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代表当前核编号，在初始化的时候由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GetBlockIdx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得到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需要着重强调，这里切片后，搬运的结果，就是本核运行的原始数据。因此如何并行计算，就在于这里如何进行数据切分。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1303AD-EBEC-5D8C-77D7-FA2DCBEAF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4923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C229B-3148-5739-26A7-594FB59EB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CC2016-A991-052C-9D88-801B349C8C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7BCD7B3-7284-F7E4-DADA-1E98920C2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这里展示的是上页右侧函数的参数逻辑，如果想深入研究可以点击倒数第二页的连接进行进一步了解。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AE73DC-E3FE-D68F-AFBD-B0F542A49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8156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ED3A6-2CD3-6A3E-8E96-74F044EC3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F3E202-0D47-F85A-0D55-1481F2CE7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74A4DE-3CB2-C9F5-95B6-2827A928B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按列分割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9537C3-88A3-ACC2-36E1-260569814B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5567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C40A2-6DF5-0499-4973-2802CEC98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96E5B52-FEAF-7BD9-A040-7500597F5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D3026D-6841-DC7F-D731-21D8F4C2C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E97CD5-5246-9476-B90D-DBFA12625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0936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2540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48D6E-2EF5-4216-AC1E-3E024C8E8F1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106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2026/1/23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2026/1/23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2026/1/23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2026/1/23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2026/1/23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2026/1/23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4"/>
            </p:custDataLst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2026/1/23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13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5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8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17.png"/><Relationship Id="rId5" Type="http://schemas.openxmlformats.org/officeDocument/2006/relationships/image" Target="../media/image1.png"/><Relationship Id="rId10" Type="http://schemas.openxmlformats.org/officeDocument/2006/relationships/image" Target="../media/image21.png"/><Relationship Id="rId4" Type="http://schemas.openxmlformats.org/officeDocument/2006/relationships/notesSlide" Target="../notesSlides/notesSlide18.xml"/><Relationship Id="rId9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2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23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24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hiascend.com/document/detail/zh/canncommercial/82RC1/API/ascendcopapi/atlasascendc_api_07_0102.html" TargetMode="Externa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7" Type="http://schemas.openxmlformats.org/officeDocument/2006/relationships/hyperlink" Target="https://www.hiascend.com/document/detail/zh/canncommercial/82RC1/API/ascendcopapi/atlasascendc_api_07_0959.html" TargetMode="External"/><Relationship Id="rId12" Type="http://schemas.openxmlformats.org/officeDocument/2006/relationships/hyperlink" Target="https://www.bilibili.com/video/BV1U3DdY6E6e?spm_id_from=333.788.videopod.sections&amp;vd_source=f3a6aee62a166e4f06c970ee50ae91cd" TargetMode="Externa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hyperlink" Target="https://www.hiascend.com/document/detail/zh/CANNCommunityEdition/83RC1alpha002/opdevg/Ascendcopdevg/atlas_ascendc_10_0004.html" TargetMode="External"/><Relationship Id="rId11" Type="http://schemas.openxmlformats.org/officeDocument/2006/relationships/hyperlink" Target="https://gitee.com/ascend/samples/tree/v1.8-8.3.RC1.alpha002/operator/ascendc/0_introduction/13_matmulleakyrelu_kernellaunch/MatmulLeakyReluInvocation" TargetMode="External"/><Relationship Id="rId5" Type="http://schemas.openxmlformats.org/officeDocument/2006/relationships/hyperlink" Target="https://www.hiascend.com/document/detail/zh/CANNCommunityEdition/83RC1alpha002/opdevg/Ascendcopdevg/atlas_ascendc_10_0005.html" TargetMode="External"/><Relationship Id="rId10" Type="http://schemas.openxmlformats.org/officeDocument/2006/relationships/hyperlink" Target="https://gitee.com/ascend/samples/tree/v1.8-8.3.RC1.alpha002/operator/ascendc/0_introduction/20_mmad_kernellaunch/MmadInvocation" TargetMode="External"/><Relationship Id="rId4" Type="http://schemas.openxmlformats.org/officeDocument/2006/relationships/notesSlide" Target="../notesSlides/notesSlide22.xml"/><Relationship Id="rId9" Type="http://schemas.openxmlformats.org/officeDocument/2006/relationships/hyperlink" Target="https://www.hiascend.com/document/detail/zh/canncommercial/83RC1/API/ascendcopapi/atlasascendc_api_07_0105.html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068513" y="1297782"/>
            <a:ext cx="10054974" cy="1606550"/>
          </a:xfrm>
        </p:spPr>
        <p:txBody>
          <a:bodyPr vert="horz" lIns="90000" tIns="46800" rIns="90000" bIns="46800" anchor="b" anchorCtr="0"/>
          <a:lstStyle/>
          <a:p>
            <a:pPr defTabSz="914400">
              <a:buClrTx/>
              <a:buSzTx/>
              <a:buFontTx/>
              <a:buNone/>
            </a:pPr>
            <a:r>
              <a:rPr lang="en-US" altLang="zh-CN" sz="4400" kern="1200" normalizeH="0" baseline="0" dirty="0">
                <a:latin typeface="+mj-lt"/>
                <a:ea typeface="+mj-ea"/>
                <a:cs typeface="+mj-cs"/>
              </a:rPr>
              <a:t>Brief Introduction </a:t>
            </a:r>
            <a:r>
              <a:rPr lang="en-US" altLang="zh-CN" sz="4400" dirty="0"/>
              <a:t>about </a:t>
            </a:r>
            <a:r>
              <a:rPr lang="en-US" altLang="zh-CN" sz="4400" dirty="0" err="1"/>
              <a:t>AscendC</a:t>
            </a:r>
            <a:endParaRPr lang="en-US" altLang="zh-CN" sz="4400" kern="1200" normalizeH="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2051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563" y="3535363"/>
            <a:ext cx="9799637" cy="1473200"/>
          </a:xfrm>
        </p:spPr>
        <p:txBody>
          <a:bodyPr vert="horz" lIns="90000" tIns="46800" rIns="90000" bIns="46800" anchor="t" anchorCtr="0">
            <a:normAutofit lnSpcReduction="10000"/>
          </a:bodyPr>
          <a:lstStyle/>
          <a:p>
            <a:pPr defTabSz="914400">
              <a:buClrTx/>
              <a:buSzTx/>
            </a:pPr>
            <a:r>
              <a:rPr lang="en-US" altLang="zh-CN" kern="1200" normalizeH="0" baseline="0" dirty="0">
                <a:latin typeface="+mn-lt"/>
                <a:ea typeface="+mn-ea"/>
                <a:cs typeface="+mn-cs"/>
              </a:rPr>
              <a:t>Presenter: </a:t>
            </a:r>
            <a:r>
              <a:rPr lang="en-US" altLang="zh-CN" dirty="0" err="1"/>
              <a:t>WangYuhang</a:t>
            </a:r>
            <a:r>
              <a:rPr lang="en-US" altLang="zh-CN" dirty="0"/>
              <a:t> &amp; </a:t>
            </a:r>
            <a:r>
              <a:rPr lang="en-US" altLang="zh-CN" dirty="0" err="1"/>
              <a:t>ChengYetai</a:t>
            </a:r>
            <a:endParaRPr lang="zh-CN" altLang="en-US" kern="1200" normalizeH="0" baseline="0" dirty="0">
              <a:latin typeface="+mn-lt"/>
              <a:ea typeface="+mn-ea"/>
              <a:cs typeface="+mn-cs"/>
            </a:endParaRPr>
          </a:p>
          <a:p>
            <a:pPr defTabSz="914400">
              <a:buClrTx/>
              <a:buSzTx/>
            </a:pPr>
            <a:r>
              <a:rPr lang="en-US" altLang="zh-CN" kern="1200" normalizeH="0" baseline="0" dirty="0">
                <a:latin typeface="+mn-lt"/>
                <a:ea typeface="+mn-ea"/>
                <a:cs typeface="+mn-cs"/>
              </a:rPr>
              <a:t>2026.1.23  Fri</a:t>
            </a:r>
          </a:p>
          <a:p>
            <a:pPr defTabSz="914400">
              <a:buClrTx/>
              <a:buSzTx/>
            </a:pPr>
            <a:r>
              <a:rPr lang="en-US" altLang="zh-CN" dirty="0"/>
              <a:t>USTC,</a:t>
            </a:r>
            <a:r>
              <a:rPr lang="zh-CN" altLang="en-US" dirty="0"/>
              <a:t> </a:t>
            </a:r>
            <a:r>
              <a:rPr lang="en-US" altLang="zh-CN" dirty="0"/>
              <a:t>Hefei,</a:t>
            </a:r>
            <a:r>
              <a:rPr lang="zh-CN" altLang="en-US" dirty="0"/>
              <a:t> </a:t>
            </a:r>
            <a:r>
              <a:rPr lang="en-US" altLang="zh-CN" dirty="0"/>
              <a:t>China</a:t>
            </a:r>
            <a:endParaRPr lang="en-US" altLang="zh-CN" kern="1200" normalizeH="0" baseline="0" dirty="0">
              <a:latin typeface="+mn-lt"/>
              <a:ea typeface="+mn-ea"/>
              <a:cs typeface="+mn-cs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234440" y="3114675"/>
            <a:ext cx="9763760" cy="0"/>
          </a:xfrm>
          <a:prstGeom prst="line">
            <a:avLst/>
          </a:prstGeom>
          <a:ln w="38100" cmpd="sng">
            <a:gradFill>
              <a:gsLst>
                <a:gs pos="0">
                  <a:srgbClr val="D2DCF2">
                    <a:alpha val="100000"/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9000">
                  <a:schemeClr val="accent1">
                    <a:lumMod val="45000"/>
                    <a:lumOff val="55000"/>
                  </a:schemeClr>
                </a:gs>
                <a:gs pos="71000">
                  <a:schemeClr val="accent1">
                    <a:lumMod val="78000"/>
                    <a:lumOff val="22000"/>
                  </a:schemeClr>
                </a:gs>
                <a:gs pos="49000">
                  <a:schemeClr val="accent1"/>
                </a:gs>
              </a:gsLst>
              <a:lin ang="0" scaled="1"/>
              <a:tileRect/>
            </a:gra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013" y="1490663"/>
            <a:ext cx="10969625" cy="4759325"/>
          </a:xfrm>
        </p:spPr>
        <p:txBody>
          <a:bodyPr lIns="90000" tIns="46800" rIns="90000" bIns="46800" rtlCol="0">
            <a:normAutofit/>
          </a:bodyPr>
          <a:lstStyle/>
          <a:p>
            <a:pPr marR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8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Introduction </a:t>
            </a:r>
          </a:p>
          <a:p>
            <a:pPr>
              <a:buFont typeface="Wingdings" panose="05000000000000000000" charset="0"/>
              <a:buChar char="Ø"/>
            </a:pPr>
            <a:r>
              <a:rPr kumimoji="0" lang="en-US" altLang="zh-CN" sz="28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 Data Transfer</a:t>
            </a:r>
            <a:endParaRPr kumimoji="0" lang="en-US" altLang="zh-CN" sz="2800" b="0" i="0" u="none" strike="noStrike" kern="1200" cap="none" spc="100" normalizeH="0" baseline="0" noProof="1">
              <a:solidFill>
                <a:schemeClr val="tx1"/>
              </a:solidFill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8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Interfaces </a:t>
            </a:r>
            <a:r>
              <a:rPr kumimoji="0" lang="en-US" altLang="zh-CN" sz="28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&amp; A Simple Add Operator</a:t>
            </a:r>
          </a:p>
          <a:p>
            <a:pPr marR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Why Tiling?</a:t>
            </a:r>
            <a:endParaRPr kumimoji="0" lang="en-US" altLang="zh-CN" sz="2800" b="0" i="0" u="none" strike="noStrike" kern="1200" cap="none" spc="100" normalizeH="0" baseline="0" noProof="1">
              <a:solidFill>
                <a:schemeClr val="tx1"/>
              </a:solidFill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kumimoji="0" lang="en-US" altLang="zh-CN" sz="28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U</a:t>
            </a: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seful concepts</a:t>
            </a:r>
          </a:p>
          <a:p>
            <a:pPr marR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Muti-Core Matmul Opeartor</a:t>
            </a:r>
            <a:endParaRPr kumimoji="0" lang="en-US" altLang="zh-CN" sz="2800" b="0" i="0" u="none" strike="noStrike" kern="1200" cap="none" spc="100" normalizeH="0" baseline="0" noProof="1">
              <a:solidFill>
                <a:schemeClr val="tx1"/>
              </a:solidFill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endParaRPr kumimoji="0" lang="en-US" altLang="zh-CN" sz="2800" b="0" i="0" u="none" strike="noStrike" kern="1200" cap="none" spc="100" normalizeH="0" baseline="0" noProof="1">
              <a:solidFill>
                <a:schemeClr val="tx1"/>
              </a:solidFill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74" name="图片 3" descr="2da64451-6151-4c70-995c-fccc65c1d94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/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838960" y="374015"/>
            <a:ext cx="8178165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b="1" spc="150" noProof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Outline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5116F-FBCF-BD45-A827-78D8EA3FF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C01126F6-6449-5B3F-284C-CA4F978E5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7AE28FC-47CC-A676-CE45-387F5AD98B69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4663B37B-BD4C-4651-30AE-028436F8583C}"/>
              </a:ext>
            </a:extLst>
          </p:cNvPr>
          <p:cNvSpPr txBox="1"/>
          <p:nvPr/>
        </p:nvSpPr>
        <p:spPr>
          <a:xfrm>
            <a:off x="1838960" y="374015"/>
            <a:ext cx="8178165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spc="100" noProof="1">
                <a:cs typeface="Arial" panose="020B0604020202020204" pitchFamily="34" charset="0"/>
              </a:rPr>
              <a:t>Introduction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BB7766C-8313-6E4E-0DBD-3556300A4C0D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608013" y="1402432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rtlCol="0" anchor="t" anchorCtr="0">
            <a:normAutofit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Language </a:t>
            </a:r>
          </a:p>
          <a:p>
            <a:pPr marL="457200" lvl="1" indent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 sz="26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Operator development for deep learning</a:t>
            </a:r>
          </a:p>
          <a:p>
            <a:pPr marL="914400" lvl="2" indent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Pytorch: low performance</a:t>
            </a:r>
          </a:p>
          <a:p>
            <a:pPr marL="914400" lvl="2" indent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Cuda C: difficult coding</a:t>
            </a:r>
          </a:p>
          <a:p>
            <a:pPr marL="914400" lvl="2" indent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spc="100" noProof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AscendC : difficult coding</a:t>
            </a:r>
          </a:p>
          <a:p>
            <a:pPr marL="457200" lvl="2" indent="0">
              <a:lnSpc>
                <a:spcPct val="110000"/>
              </a:lnSpc>
              <a:buNone/>
            </a:pPr>
            <a:endParaRPr lang="en-US" altLang="zh-CN" sz="2800" spc="1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2" indent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spc="100" noProof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Python-like</a:t>
            </a: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program language: Triton &amp; TileLang</a:t>
            </a:r>
          </a:p>
          <a:p>
            <a:pPr marL="914400" lvl="3" indent="0">
              <a:lnSpc>
                <a:spcPct val="110000"/>
              </a:lnSpc>
              <a:buFont typeface="Wingdings" panose="05000000000000000000" charset="0"/>
              <a:buChar char="Ø"/>
              <a:tabLst>
                <a:tab pos="1609725" algn="l"/>
                <a:tab pos="1609725" algn="l"/>
                <a:tab pos="1609725" algn="l"/>
                <a:tab pos="1609725" algn="l"/>
              </a:tabLst>
            </a:pPr>
            <a:r>
              <a:rPr lang="en-US" altLang="zh-CN" sz="26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High performance</a:t>
            </a:r>
          </a:p>
          <a:p>
            <a:pPr marL="914400" lvl="3" indent="0">
              <a:lnSpc>
                <a:spcPct val="110000"/>
              </a:lnSpc>
              <a:buFont typeface="Wingdings" panose="05000000000000000000" charset="0"/>
              <a:buChar char="Ø"/>
              <a:tabLst>
                <a:tab pos="1609725" algn="l"/>
                <a:tab pos="1609725" algn="l"/>
                <a:tab pos="1609725" algn="l"/>
                <a:tab pos="1609725" algn="l"/>
              </a:tabLst>
            </a:pPr>
            <a:r>
              <a:rPr lang="en-US" altLang="zh-CN" sz="26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Easy coding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298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68B06-2EF4-D332-6E81-1D282CDE3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69E351F1-66ED-5674-30FD-FBAF3617E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21424AE-4A88-1E30-CEC6-0BC1E42B8C6E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9DF3EAB-520A-D7B3-F053-C91FABC395C0}"/>
              </a:ext>
            </a:extLst>
          </p:cNvPr>
          <p:cNvSpPr txBox="1"/>
          <p:nvPr/>
        </p:nvSpPr>
        <p:spPr>
          <a:xfrm>
            <a:off x="1838960" y="374015"/>
            <a:ext cx="8178165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spc="100" noProof="1">
                <a:cs typeface="Arial" panose="020B0604020202020204" pitchFamily="34" charset="0"/>
              </a:rPr>
              <a:t>Introduction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C0D917F8-949E-1017-9EF2-199DEDE526E6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611187" y="1425484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Hardware Architecture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400" spc="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基于</a:t>
            </a:r>
            <a:r>
              <a:rPr lang="en-US" altLang="zh-CN" sz="2400" spc="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Ascend C</a:t>
            </a:r>
            <a:r>
              <a:rPr lang="zh-CN" altLang="en-US" sz="2400" spc="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开发的算子运行在</a:t>
            </a:r>
            <a:r>
              <a:rPr lang="en-US" altLang="zh-CN" sz="2400" spc="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Core</a:t>
            </a:r>
            <a:r>
              <a:rPr lang="zh-CN" altLang="en-US" sz="2400" spc="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上</a:t>
            </a:r>
            <a:endParaRPr lang="en-US" altLang="zh-CN" sz="2400" spc="1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B6788785-C498-DA25-B7E8-D16188B02D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8574" y="2984478"/>
            <a:ext cx="7266534" cy="32842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23706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AB55E-E85F-D495-E043-EF62C2F9D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FCD97E92-9E54-A2F0-5101-F02E7BA8C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FBA9E30-42EB-17AC-509D-FE5C2775622E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11339138-44C7-5EC4-438E-E813BFD379B2}"/>
              </a:ext>
            </a:extLst>
          </p:cNvPr>
          <p:cNvSpPr txBox="1"/>
          <p:nvPr/>
        </p:nvSpPr>
        <p:spPr>
          <a:xfrm>
            <a:off x="1838960" y="374015"/>
            <a:ext cx="8178165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spc="100" noProof="1">
                <a:cs typeface="Arial" panose="020B0604020202020204" pitchFamily="34" charset="0"/>
              </a:rPr>
              <a:t>Introduction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16181AA-2F26-20A6-4616-870BE1043119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611187" y="1425484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Hardware Architecture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AI Core</a:t>
            </a:r>
            <a:r>
              <a:rPr lang="zh-CN" altLang="en-US" sz="2400" dirty="0">
                <a:solidFill>
                  <a:schemeClr val="tx1"/>
                </a:solidFill>
              </a:rPr>
              <a:t>是昇腾</a:t>
            </a:r>
            <a:r>
              <a:rPr lang="en-US" altLang="zh-CN" sz="2400" dirty="0">
                <a:solidFill>
                  <a:schemeClr val="tx1"/>
                </a:solidFill>
              </a:rPr>
              <a:t>AI</a:t>
            </a:r>
            <a:r>
              <a:rPr lang="zh-CN" altLang="en-US" sz="2400" dirty="0">
                <a:solidFill>
                  <a:schemeClr val="tx1"/>
                </a:solidFill>
              </a:rPr>
              <a:t>处理器的计算核心，昇腾</a:t>
            </a:r>
            <a:r>
              <a:rPr lang="en-US" altLang="zh-CN" sz="2400" dirty="0">
                <a:solidFill>
                  <a:schemeClr val="tx1"/>
                </a:solidFill>
              </a:rPr>
              <a:t>AI</a:t>
            </a:r>
            <a:r>
              <a:rPr lang="zh-CN" altLang="en-US" sz="2400" dirty="0">
                <a:solidFill>
                  <a:schemeClr val="tx1"/>
                </a:solidFill>
              </a:rPr>
              <a:t>处理器内部有多个</a:t>
            </a:r>
            <a:r>
              <a:rPr lang="en-US" altLang="zh-CN" sz="2400" dirty="0">
                <a:solidFill>
                  <a:schemeClr val="tx1"/>
                </a:solidFill>
              </a:rPr>
              <a:t>AI Core</a:t>
            </a:r>
            <a:endParaRPr lang="en-US" altLang="zh-CN" sz="2400" spc="1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2A34403B-DAF0-A518-6467-E80AA2B4F7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5929" y="2795818"/>
            <a:ext cx="5366505" cy="397765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B3C6495-2E3B-EA58-6BBA-5FF3117CF8F6}"/>
              </a:ext>
            </a:extLst>
          </p:cNvPr>
          <p:cNvSpPr txBox="1"/>
          <p:nvPr/>
        </p:nvSpPr>
        <p:spPr>
          <a:xfrm>
            <a:off x="1509006" y="4264639"/>
            <a:ext cx="3362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抽象架构图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7873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FD83C-223F-E747-55DE-0A236AF01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E74EB98D-4127-5767-CC6B-71D0060860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93B84AB-8B59-ED32-C980-F5CFFB96E4A1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4140D4AB-A74A-18F7-9AA3-C729DB38A413}"/>
              </a:ext>
            </a:extLst>
          </p:cNvPr>
          <p:cNvSpPr txBox="1"/>
          <p:nvPr/>
        </p:nvSpPr>
        <p:spPr>
          <a:xfrm>
            <a:off x="1838960" y="374015"/>
            <a:ext cx="8178165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spc="100" noProof="1">
                <a:cs typeface="Arial" panose="020B0604020202020204" pitchFamily="34" charset="0"/>
              </a:rPr>
              <a:t>Introduction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B11643D-B3E7-A5A1-8BFD-C9A82883EBF8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611187" y="1425484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Hardware Architecture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矩阵计算单元（</a:t>
            </a:r>
            <a:r>
              <a:rPr lang="en-US" altLang="zh-CN" sz="2000" dirty="0">
                <a:solidFill>
                  <a:schemeClr val="tx1"/>
                </a:solidFill>
              </a:rPr>
              <a:t>Cube Unit</a:t>
            </a:r>
            <a:r>
              <a:rPr lang="zh-CN" altLang="en-US" sz="2000" dirty="0">
                <a:solidFill>
                  <a:schemeClr val="tx1"/>
                </a:solidFill>
              </a:rPr>
              <a:t>）、向量计算单元（</a:t>
            </a:r>
            <a:r>
              <a:rPr lang="en-US" altLang="zh-CN" sz="2000" dirty="0">
                <a:solidFill>
                  <a:schemeClr val="tx1"/>
                </a:solidFill>
              </a:rPr>
              <a:t>Vector Unit</a:t>
            </a:r>
            <a:r>
              <a:rPr lang="zh-CN" altLang="en-US" sz="2000" dirty="0">
                <a:solidFill>
                  <a:schemeClr val="tx1"/>
                </a:solidFill>
              </a:rPr>
              <a:t>）和标量计算单元（</a:t>
            </a:r>
            <a:r>
              <a:rPr lang="en-US" altLang="zh-CN" sz="2000" dirty="0">
                <a:solidFill>
                  <a:schemeClr val="tx1"/>
                </a:solidFill>
              </a:rPr>
              <a:t>Scalar Unit</a:t>
            </a:r>
            <a:r>
              <a:rPr lang="zh-CN" altLang="en-US" sz="2000" dirty="0">
                <a:solidFill>
                  <a:schemeClr val="tx1"/>
                </a:solidFill>
              </a:rPr>
              <a:t>）这三种计算单元分别对应了张量、向量和标量三种常见的计算模式，在实际的计算过程中各司其职，形成了三条独立的执行流水线，在你设计的流程调度下互相配合达到较好的计算效率。</a:t>
            </a:r>
            <a:endParaRPr lang="en-US" altLang="zh-CN" sz="2000" noProof="1">
              <a:solidFill>
                <a:schemeClr val="tx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很多传统处理器不同，</a:t>
            </a:r>
            <a:r>
              <a:rPr lang="en-US" altLang="zh-CN" sz="2000" dirty="0">
                <a:solidFill>
                  <a:schemeClr val="tx1"/>
                </a:solidFill>
              </a:rPr>
              <a:t>Ascend </a:t>
            </a:r>
            <a:r>
              <a:rPr lang="zh-CN" altLang="en-US" sz="2000" dirty="0">
                <a:solidFill>
                  <a:schemeClr val="tx1"/>
                </a:solidFill>
              </a:rPr>
              <a:t>的 </a:t>
            </a:r>
            <a:r>
              <a:rPr lang="en-US" altLang="zh-CN" sz="2000" dirty="0">
                <a:solidFill>
                  <a:schemeClr val="tx1"/>
                </a:solidFill>
              </a:rPr>
              <a:t>AI Core </a:t>
            </a:r>
            <a:r>
              <a:rPr lang="zh-CN" altLang="en-US" sz="2000" dirty="0">
                <a:solidFill>
                  <a:schemeClr val="tx1"/>
                </a:solidFill>
              </a:rPr>
              <a:t>并非固定架构，而是随着产品演进演化出两种不同的形态：</a:t>
            </a:r>
            <a:r>
              <a:rPr lang="zh-CN" altLang="en-US" sz="2000" b="1" dirty="0">
                <a:solidFill>
                  <a:schemeClr val="tx1"/>
                </a:solidFill>
              </a:rPr>
              <a:t>耦合式架构</a:t>
            </a:r>
            <a:r>
              <a:rPr lang="zh-CN" altLang="en-US" sz="2000" dirty="0">
                <a:solidFill>
                  <a:schemeClr val="tx1"/>
                </a:solidFill>
              </a:rPr>
              <a:t>与</a:t>
            </a:r>
            <a:r>
              <a:rPr lang="zh-CN" altLang="en-US" sz="2000" b="1" dirty="0">
                <a:solidFill>
                  <a:schemeClr val="tx1"/>
                </a:solidFill>
              </a:rPr>
              <a:t>分离式架构</a:t>
            </a:r>
            <a:r>
              <a:rPr lang="zh-CN" altLang="en-US" sz="2000" dirty="0">
                <a:solidFill>
                  <a:schemeClr val="tx1"/>
                </a:solidFill>
              </a:rPr>
              <a:t>。这两种架构在程序执行方式、数据流管理方式、</a:t>
            </a:r>
            <a:r>
              <a:rPr lang="en-US" altLang="zh-CN" sz="2000" dirty="0">
                <a:solidFill>
                  <a:schemeClr val="tx1"/>
                </a:solidFill>
              </a:rPr>
              <a:t>Cube </a:t>
            </a:r>
            <a:r>
              <a:rPr lang="zh-CN" altLang="en-US" sz="2000" dirty="0">
                <a:solidFill>
                  <a:schemeClr val="tx1"/>
                </a:solidFill>
              </a:rPr>
              <a:t>与 </a:t>
            </a:r>
            <a:r>
              <a:rPr lang="en-US" altLang="zh-CN" sz="2000" dirty="0">
                <a:solidFill>
                  <a:schemeClr val="tx1"/>
                </a:solidFill>
              </a:rPr>
              <a:t>Vector </a:t>
            </a:r>
            <a:r>
              <a:rPr lang="zh-CN" altLang="en-US" sz="2000" dirty="0">
                <a:solidFill>
                  <a:schemeClr val="tx1"/>
                </a:solidFill>
              </a:rPr>
              <a:t>的调度能力等方面都有本质差异，决定了算子需要采用不同的调度策略。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zh-CN" sz="2000" spc="1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67055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E0731-17A9-E436-5637-8A56E09C1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3EEFF69A-0CB6-7B12-C140-CF3E4C767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AC25803-A06E-59A9-B804-686943ACE636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AEE928A9-C7F2-0839-60A5-C49C4B61EC27}"/>
              </a:ext>
            </a:extLst>
          </p:cNvPr>
          <p:cNvSpPr txBox="1"/>
          <p:nvPr/>
        </p:nvSpPr>
        <p:spPr>
          <a:xfrm>
            <a:off x="1838960" y="374015"/>
            <a:ext cx="8178165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spc="100" noProof="1">
                <a:cs typeface="Arial" panose="020B0604020202020204" pitchFamily="34" charset="0"/>
              </a:rPr>
              <a:t>Introduction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8" name="图片 7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6050C959-750C-DCEE-466C-A23CA9559A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1716" y="1513755"/>
            <a:ext cx="7016640" cy="466420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A5431F7-30B8-D796-7680-6600E8E68BC3}"/>
              </a:ext>
            </a:extLst>
          </p:cNvPr>
          <p:cNvSpPr txBox="1"/>
          <p:nvPr/>
        </p:nvSpPr>
        <p:spPr>
          <a:xfrm>
            <a:off x="543644" y="1513755"/>
            <a:ext cx="7209545" cy="1545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 sz="32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32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耦合架构</a:t>
            </a:r>
            <a:endParaRPr lang="en-US" altLang="zh-CN" sz="3200" spc="1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800" spc="100" dirty="0">
                <a:cs typeface="Arial" panose="020B0604020202020204" pitchFamily="34" charset="0"/>
              </a:rPr>
              <a:t>单核同时具备 </a:t>
            </a:r>
            <a:endParaRPr lang="en-US" altLang="zh-CN" sz="2800" spc="100" dirty="0"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2800" spc="100" dirty="0">
                <a:cs typeface="Arial" panose="020B0604020202020204" pitchFamily="34" charset="0"/>
              </a:rPr>
              <a:t>Cube/Vector/Scalar</a:t>
            </a:r>
            <a:endParaRPr lang="en-US" altLang="zh-CN" sz="2800" spc="100" noProof="1"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0969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4F410-916F-8874-B476-B5D437203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02053467-0DE7-DC08-DBB7-B516FD767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AFF108E-E1D8-9766-F53D-EF6F6DE887A3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690D099-EBA3-FD43-A9AE-4A90EF99C976}"/>
              </a:ext>
            </a:extLst>
          </p:cNvPr>
          <p:cNvSpPr txBox="1"/>
          <p:nvPr/>
        </p:nvSpPr>
        <p:spPr>
          <a:xfrm>
            <a:off x="1838960" y="374015"/>
            <a:ext cx="8178165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spc="100" noProof="1">
                <a:cs typeface="Arial" panose="020B0604020202020204" pitchFamily="34" charset="0"/>
              </a:rPr>
              <a:t>Introduction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7D39BA-734F-E4C9-4274-FAAB4F2CD074}"/>
              </a:ext>
            </a:extLst>
          </p:cNvPr>
          <p:cNvSpPr txBox="1"/>
          <p:nvPr/>
        </p:nvSpPr>
        <p:spPr>
          <a:xfrm>
            <a:off x="543645" y="1513755"/>
            <a:ext cx="4973492" cy="1417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 sz="32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3200" spc="100" noProof="1">
                <a:cs typeface="Arial" panose="020B0604020202020204" pitchFamily="34" charset="0"/>
              </a:rPr>
              <a:t>分离</a:t>
            </a:r>
            <a:r>
              <a:rPr lang="zh-CN" altLang="en-US" sz="32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架构</a:t>
            </a:r>
            <a:endParaRPr lang="en-US" altLang="zh-CN" sz="3200" spc="1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2400" spc="100" dirty="0">
                <a:cs typeface="Arial" panose="020B0604020202020204" pitchFamily="34" charset="0"/>
              </a:rPr>
              <a:t>AIC</a:t>
            </a:r>
            <a:r>
              <a:rPr lang="zh-CN" altLang="en-US" sz="2400" spc="100" dirty="0">
                <a:cs typeface="Arial" panose="020B0604020202020204" pitchFamily="34" charset="0"/>
              </a:rPr>
              <a:t>（矩阵核）与 </a:t>
            </a:r>
            <a:r>
              <a:rPr lang="en-US" altLang="zh-CN" sz="2400" spc="100" dirty="0">
                <a:cs typeface="Arial" panose="020B0604020202020204" pitchFamily="34" charset="0"/>
              </a:rPr>
              <a:t>AIV</a:t>
            </a:r>
            <a:r>
              <a:rPr lang="zh-CN" altLang="en-US" sz="2400" spc="100" dirty="0">
                <a:cs typeface="Arial" panose="020B0604020202020204" pitchFamily="34" charset="0"/>
              </a:rPr>
              <a:t>（向量核）</a:t>
            </a:r>
            <a:endParaRPr lang="en-US" altLang="zh-CN" sz="2400" spc="100" dirty="0"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400" spc="100" dirty="0">
                <a:cs typeface="Arial" panose="020B0604020202020204" pitchFamily="34" charset="0"/>
              </a:rPr>
              <a:t>完全分开</a:t>
            </a:r>
            <a:endParaRPr lang="en-US" altLang="zh-CN" sz="2400" spc="100" noProof="1">
              <a:cs typeface="Arial" panose="020B0604020202020204" pitchFamily="34" charset="0"/>
            </a:endParaRPr>
          </a:p>
        </p:txBody>
      </p:sp>
      <p:pic>
        <p:nvPicPr>
          <p:cNvPr id="9" name="图片 8" descr="图形用户界面&#10;&#10;AI 生成的内容可能不正确。">
            <a:extLst>
              <a:ext uri="{FF2B5EF4-FFF2-40B4-BE49-F238E27FC236}">
                <a16:creationId xmlns:a16="http://schemas.microsoft.com/office/drawing/2014/main" id="{8D769271-271F-CF65-0456-EE16A11C40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7137" y="1245759"/>
            <a:ext cx="5634552" cy="53618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10768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4EF37-8AA8-DDA7-3F9D-AD2EBF85A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BF52191E-18B7-3D86-5A95-0A83C33BEE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36C313E-34AB-9671-352B-792FFA9A1CEB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C278699-82A2-7517-933D-A121847DDC66}"/>
              </a:ext>
            </a:extLst>
          </p:cNvPr>
          <p:cNvSpPr txBox="1"/>
          <p:nvPr/>
        </p:nvSpPr>
        <p:spPr>
          <a:xfrm>
            <a:off x="1838960" y="374015"/>
            <a:ext cx="8178165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spc="100" noProof="1">
                <a:cs typeface="Arial" panose="020B0604020202020204" pitchFamily="34" charset="0"/>
              </a:rPr>
              <a:t>About Data Transfer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12F9B75-5F69-7002-E177-F52F66FEAEB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611187" y="1425484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Rules: Data Flow</a:t>
            </a:r>
            <a:endParaRPr lang="en-US" altLang="zh-CN" sz="2400" spc="1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 descr="日程表&#10;&#10;AI 生成的内容可能不正确。">
            <a:extLst>
              <a:ext uri="{FF2B5EF4-FFF2-40B4-BE49-F238E27FC236}">
                <a16:creationId xmlns:a16="http://schemas.microsoft.com/office/drawing/2014/main" id="{21707D41-440E-6068-D305-C9FAFDF2AA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176" y="1883946"/>
            <a:ext cx="11375762" cy="497405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68142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58592-E6BB-3B75-902C-922EF39A8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5A12DE78-0327-59D0-58CC-20DE9E0541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02C7EB4-2EBE-F775-2D63-63E7EFF1DD2C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4953B5C-72B4-F1D3-D806-52687C550E23}"/>
              </a:ext>
            </a:extLst>
          </p:cNvPr>
          <p:cNvSpPr txBox="1"/>
          <p:nvPr/>
        </p:nvSpPr>
        <p:spPr>
          <a:xfrm>
            <a:off x="1838960" y="374015"/>
            <a:ext cx="8178165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spc="100" noProof="1">
                <a:cs typeface="Arial" panose="020B0604020202020204" pitchFamily="34" charset="0"/>
              </a:rPr>
              <a:t>About Data Transfer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041F8F6-F730-AB05-2A99-DD15215270F6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611187" y="1425484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 sz="28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Rules: DataCopy()</a:t>
            </a:r>
            <a:endParaRPr lang="en-US" altLang="zh-CN" sz="2400" spc="1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314F6744-1D22-967E-F487-558862DED8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10" y="2037605"/>
            <a:ext cx="9373255" cy="4446380"/>
          </a:xfrm>
          <a:prstGeom prst="rect">
            <a:avLst/>
          </a:prstGeom>
        </p:spPr>
      </p:pic>
      <p:pic>
        <p:nvPicPr>
          <p:cNvPr id="11" name="图片 10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9FF04082-43C8-AC97-A21D-B96D510596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069" y="4594551"/>
            <a:ext cx="3736881" cy="18894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89664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71522-569B-A48A-1A51-DE9D008AE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97DD4849-866B-6A09-50B0-04746BEBA0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17D9956-B609-2055-9FA5-DBEEE39D881C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DB8D3DB-03A6-70F8-1180-0E93B716A055}"/>
              </a:ext>
            </a:extLst>
          </p:cNvPr>
          <p:cNvSpPr txBox="1"/>
          <p:nvPr/>
        </p:nvSpPr>
        <p:spPr>
          <a:xfrm>
            <a:off x="1838960" y="374015"/>
            <a:ext cx="9235440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altLang="zh-CN" sz="4000" spc="100" noProof="1">
                <a:cs typeface="Arial" panose="020B0604020202020204" pitchFamily="34" charset="0"/>
              </a:rPr>
              <a:t>Why Tiling?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B34CBF9-90E3-5894-FEA2-953E7A6F2652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611187" y="1425484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考虑一个最基础的矩阵乘法的实现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6D7041B-376C-28FA-EBC1-1AC4D3683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2100171"/>
            <a:ext cx="5166523" cy="1463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BFB8387-1C26-19A7-449A-C4C454AE6742}"/>
              </a:ext>
            </a:extLst>
          </p:cNvPr>
          <p:cNvSpPr txBox="1"/>
          <p:nvPr/>
        </p:nvSpPr>
        <p:spPr>
          <a:xfrm>
            <a:off x="2720148" y="380514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O(n³)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97C4EE-4BCB-0698-627A-5EEC70D1A068}"/>
              </a:ext>
            </a:extLst>
          </p:cNvPr>
          <p:cNvSpPr txBox="1"/>
          <p:nvPr/>
        </p:nvSpPr>
        <p:spPr>
          <a:xfrm>
            <a:off x="7007701" y="1729415"/>
            <a:ext cx="45048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显然太过朴素，而且我们都能意识到，矩阵乘法可以并行计算，各个子块之间互不干扰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27513098-EA50-0695-D50D-961D7F6AD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973" y="3076208"/>
            <a:ext cx="5889065" cy="3077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61673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24466-90F7-0FB3-0D68-931BEAA28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280CB958-1363-C69D-6713-91E20DE686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7B29444-5097-E46F-59A9-40502D4665B7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5799954-8013-9C6D-692B-BC1D05E85B27}"/>
              </a:ext>
            </a:extLst>
          </p:cNvPr>
          <p:cNvSpPr txBox="1"/>
          <p:nvPr/>
        </p:nvSpPr>
        <p:spPr>
          <a:xfrm>
            <a:off x="1838960" y="374015"/>
            <a:ext cx="9235440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altLang="zh-CN" sz="4000" spc="100" noProof="1">
                <a:cs typeface="Arial" panose="020B0604020202020204" pitchFamily="34" charset="0"/>
              </a:rPr>
              <a:t>Why Tiling?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49268E1-BFF7-3D24-63D5-12B6C2F2AF13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611187" y="1425484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那么，如何在并行计算中，给各个核分配自己对应的子块进行计算呢？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u="sng" dirty="0">
                <a:solidFill>
                  <a:srgbClr val="C00000"/>
                </a:solidFill>
              </a:rPr>
              <a:t>Cube</a:t>
            </a:r>
            <a:r>
              <a:rPr lang="zh-CN" altLang="en-US" u="sng" dirty="0">
                <a:solidFill>
                  <a:srgbClr val="C00000"/>
                </a:solidFill>
              </a:rPr>
              <a:t>核执行矩阵运算。每次可以完成一个</a:t>
            </a:r>
            <a:r>
              <a:rPr lang="en-US" altLang="zh-CN" u="sng" dirty="0">
                <a:solidFill>
                  <a:srgbClr val="C00000"/>
                </a:solidFill>
              </a:rPr>
              <a:t>fp16</a:t>
            </a:r>
            <a:r>
              <a:rPr lang="zh-CN" altLang="en-US" u="sng" dirty="0">
                <a:solidFill>
                  <a:srgbClr val="C00000"/>
                </a:solidFill>
              </a:rPr>
              <a:t>的</a:t>
            </a:r>
            <a:r>
              <a:rPr lang="en-US" altLang="zh-CN" u="sng" dirty="0">
                <a:solidFill>
                  <a:srgbClr val="C00000"/>
                </a:solidFill>
              </a:rPr>
              <a:t>16*16</a:t>
            </a:r>
            <a:r>
              <a:rPr lang="zh-CN" altLang="en-US" u="sng" dirty="0">
                <a:solidFill>
                  <a:srgbClr val="C00000"/>
                </a:solidFill>
              </a:rPr>
              <a:t>与</a:t>
            </a:r>
            <a:r>
              <a:rPr lang="en-US" altLang="zh-CN" u="sng" dirty="0">
                <a:solidFill>
                  <a:srgbClr val="C00000"/>
                </a:solidFill>
              </a:rPr>
              <a:t>16*16</a:t>
            </a:r>
            <a:r>
              <a:rPr lang="zh-CN" altLang="en-US" u="sng" dirty="0">
                <a:solidFill>
                  <a:srgbClr val="C00000"/>
                </a:solidFill>
              </a:rPr>
              <a:t>矩阵乘</a:t>
            </a:r>
            <a:endParaRPr lang="en-US" altLang="zh-CN" u="sng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假设核有</a:t>
            </a:r>
            <a:r>
              <a:rPr lang="en-US" altLang="zh-CN" dirty="0">
                <a:solidFill>
                  <a:schemeClr val="tx1"/>
                </a:solidFill>
              </a:rPr>
              <a:t>R</a:t>
            </a:r>
            <a:r>
              <a:rPr lang="zh-CN" altLang="en-US" dirty="0">
                <a:solidFill>
                  <a:schemeClr val="tx1"/>
                </a:solidFill>
              </a:rPr>
              <a:t>个，执行</a:t>
            </a:r>
            <a:r>
              <a:rPr lang="en-US" altLang="zh-CN" dirty="0">
                <a:solidFill>
                  <a:schemeClr val="tx1"/>
                </a:solidFill>
              </a:rPr>
              <a:t>M*K,K*N</a:t>
            </a:r>
            <a:r>
              <a:rPr lang="zh-CN" altLang="en-US" dirty="0">
                <a:solidFill>
                  <a:schemeClr val="tx1"/>
                </a:solidFill>
              </a:rPr>
              <a:t>矩阵的矩阵乘法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9D084FE0-E137-E412-40DD-ED3452041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149" y="2781936"/>
            <a:ext cx="7800871" cy="40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43766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17F94-4095-B8C9-55F1-74B6A5CA6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8A448D27-88C9-AD2F-96F9-0027E47BEA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7A0A3DE-6089-4C11-1806-3F847C9DC576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52DDE37D-E3FA-07FC-44E6-4C8F3166BE97}"/>
              </a:ext>
            </a:extLst>
          </p:cNvPr>
          <p:cNvSpPr txBox="1"/>
          <p:nvPr/>
        </p:nvSpPr>
        <p:spPr>
          <a:xfrm>
            <a:off x="1838960" y="374015"/>
            <a:ext cx="9235440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altLang="zh-CN" sz="4000" spc="100" noProof="1">
                <a:cs typeface="Arial" panose="020B0604020202020204" pitchFamily="34" charset="0"/>
              </a:rPr>
              <a:t>Why Tiling?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1C1418C-20CB-2F39-D843-71A6EDD4101C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611187" y="1425484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C56F6BB2-C38D-7C47-DBF4-F38E529ED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150" y="4817888"/>
            <a:ext cx="3904414" cy="204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CEB6597-C864-7F5F-4E58-3B9708DE6BB9}"/>
              </a:ext>
            </a:extLst>
          </p:cNvPr>
          <p:cNvSpPr txBox="1"/>
          <p:nvPr/>
        </p:nvSpPr>
        <p:spPr>
          <a:xfrm>
            <a:off x="640080" y="1501049"/>
            <a:ext cx="809666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二维网格法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将结果矩阵 </a:t>
            </a:r>
            <a:r>
              <a:rPr lang="en-US" altLang="zh-CN" dirty="0"/>
              <a:t>C </a:t>
            </a:r>
            <a:r>
              <a:rPr lang="zh-CN" altLang="en-US" dirty="0"/>
              <a:t>划分为多个 </a:t>
            </a:r>
            <a:r>
              <a:rPr lang="en-US" altLang="zh-CN" dirty="0"/>
              <a:t>16×16 </a:t>
            </a:r>
            <a:r>
              <a:rPr lang="zh-CN" altLang="en-US" dirty="0"/>
              <a:t>的子块（</a:t>
            </a:r>
            <a:r>
              <a:rPr lang="en-US" altLang="zh-CN" dirty="0"/>
              <a:t>tile</a:t>
            </a:r>
            <a:r>
              <a:rPr lang="zh-CN" altLang="en-US" dirty="0"/>
              <a:t>）。</a:t>
            </a:r>
          </a:p>
          <a:p>
            <a:r>
              <a:rPr lang="zh-CN" altLang="en-US" dirty="0"/>
              <a:t>每个核负责计算 </a:t>
            </a:r>
            <a:r>
              <a:rPr lang="en-US" altLang="zh-CN" dirty="0"/>
              <a:t>C </a:t>
            </a:r>
            <a:r>
              <a:rPr lang="zh-CN" altLang="en-US" dirty="0"/>
              <a:t>中一部分子块。</a:t>
            </a:r>
          </a:p>
          <a:p>
            <a:r>
              <a:rPr lang="zh-CN" altLang="en-US" dirty="0"/>
              <a:t>核需要从矩阵 </a:t>
            </a:r>
            <a:r>
              <a:rPr lang="en-US" altLang="zh-CN" dirty="0"/>
              <a:t>A </a:t>
            </a:r>
            <a:r>
              <a:rPr lang="zh-CN" altLang="en-US" dirty="0"/>
              <a:t>和 </a:t>
            </a:r>
            <a:r>
              <a:rPr lang="en-US" altLang="zh-CN" dirty="0"/>
              <a:t>B </a:t>
            </a:r>
            <a:r>
              <a:rPr lang="zh-CN" altLang="en-US" dirty="0"/>
              <a:t>中读取对应的子块进行计算。</a:t>
            </a:r>
            <a:endParaRPr lang="en-US" altLang="zh-CN" dirty="0"/>
          </a:p>
          <a:p>
            <a:r>
              <a:rPr lang="zh-CN" altLang="en-US" dirty="0"/>
              <a:t>假设核数</a:t>
            </a:r>
            <a:r>
              <a:rPr lang="en-US" altLang="zh-CN" dirty="0"/>
              <a:t>R</a:t>
            </a:r>
            <a:r>
              <a:rPr lang="zh-CN" altLang="en-US" dirty="0"/>
              <a:t>是完全平方数。</a:t>
            </a:r>
            <a:r>
              <a:rPr lang="en-US" altLang="zh-CN" dirty="0"/>
              <a:t>R= </a:t>
            </a:r>
            <a:r>
              <a:rPr lang="en-US" altLang="zh-CN" dirty="0" err="1"/>
              <a:t>R_row</a:t>
            </a:r>
            <a:r>
              <a:rPr lang="en-US" altLang="zh-CN" dirty="0"/>
              <a:t> * </a:t>
            </a:r>
            <a:r>
              <a:rPr lang="en-US" altLang="zh-CN" dirty="0" err="1"/>
              <a:t>R_col</a:t>
            </a:r>
            <a:r>
              <a:rPr lang="en-US" altLang="zh-CN" dirty="0"/>
              <a:t> (</a:t>
            </a:r>
            <a:r>
              <a:rPr lang="en-US" altLang="zh-CN" dirty="0" err="1"/>
              <a:t>R_row</a:t>
            </a:r>
            <a:r>
              <a:rPr lang="en-US" altLang="zh-CN" dirty="0"/>
              <a:t>=</a:t>
            </a:r>
            <a:r>
              <a:rPr lang="en-US" altLang="zh-CN" dirty="0" err="1"/>
              <a:t>R_col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每个核的二维坐标记为 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, j)</a:t>
            </a:r>
            <a:r>
              <a:rPr lang="zh-CN" altLang="en-US" dirty="0"/>
              <a:t>，其中 </a:t>
            </a:r>
            <a:r>
              <a:rPr lang="en-US" altLang="zh-CN" dirty="0"/>
              <a:t>0 ≤ </a:t>
            </a:r>
            <a:r>
              <a:rPr lang="en-US" altLang="zh-CN" dirty="0" err="1"/>
              <a:t>i</a:t>
            </a:r>
            <a:r>
              <a:rPr lang="en-US" altLang="zh-CN" dirty="0"/>
              <a:t> &lt; </a:t>
            </a:r>
            <a:r>
              <a:rPr lang="en-US" altLang="zh-CN" dirty="0" err="1"/>
              <a:t>R_row</a:t>
            </a:r>
            <a:r>
              <a:rPr lang="zh-CN" altLang="en-US" dirty="0"/>
              <a:t>，</a:t>
            </a:r>
            <a:r>
              <a:rPr lang="en-US" altLang="zh-CN" dirty="0"/>
              <a:t>0 ≤ j &lt; </a:t>
            </a:r>
            <a:r>
              <a:rPr lang="en-US" altLang="zh-CN" dirty="0" err="1"/>
              <a:t>R_col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则核 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, j) </a:t>
            </a:r>
            <a:r>
              <a:rPr lang="zh-CN" altLang="en-US" dirty="0"/>
              <a:t>负责计算 </a:t>
            </a:r>
            <a:r>
              <a:rPr lang="en-US" altLang="zh-CN" dirty="0"/>
              <a:t>C </a:t>
            </a:r>
            <a:r>
              <a:rPr lang="zh-CN" altLang="en-US" dirty="0"/>
              <a:t>中</a:t>
            </a:r>
            <a:endParaRPr lang="en-US" altLang="zh-CN" dirty="0"/>
          </a:p>
          <a:p>
            <a:r>
              <a:rPr lang="zh-CN" altLang="en-US" dirty="0"/>
              <a:t>行块索引为 </a:t>
            </a:r>
            <a:r>
              <a:rPr lang="en-US" altLang="zh-CN" dirty="0" err="1"/>
              <a:t>i</a:t>
            </a:r>
            <a:r>
              <a:rPr lang="en-US" altLang="zh-CN" dirty="0"/>
              <a:t>, </a:t>
            </a:r>
            <a:r>
              <a:rPr lang="en-US" altLang="zh-CN" dirty="0" err="1"/>
              <a:t>i+R_row</a:t>
            </a:r>
            <a:r>
              <a:rPr lang="en-US" altLang="zh-CN" dirty="0"/>
              <a:t>, i+2*</a:t>
            </a:r>
            <a:r>
              <a:rPr lang="en-US" altLang="zh-CN" dirty="0" err="1"/>
              <a:t>R_row</a:t>
            </a:r>
            <a:r>
              <a:rPr lang="en-US" altLang="zh-CN" dirty="0"/>
              <a:t>, ... </a:t>
            </a:r>
          </a:p>
          <a:p>
            <a:r>
              <a:rPr lang="zh-CN" altLang="en-US" dirty="0"/>
              <a:t>且列块索引为 </a:t>
            </a:r>
            <a:r>
              <a:rPr lang="en-US" altLang="zh-CN" dirty="0"/>
              <a:t>j, </a:t>
            </a:r>
            <a:r>
              <a:rPr lang="en-US" altLang="zh-CN" dirty="0" err="1"/>
              <a:t>j+R_col</a:t>
            </a:r>
            <a:r>
              <a:rPr lang="en-US" altLang="zh-CN" dirty="0"/>
              <a:t>, j+2*</a:t>
            </a:r>
            <a:r>
              <a:rPr lang="en-US" altLang="zh-CN" dirty="0" err="1"/>
              <a:t>R_col</a:t>
            </a:r>
            <a:r>
              <a:rPr lang="en-US" altLang="zh-CN" dirty="0"/>
              <a:t>, ... </a:t>
            </a:r>
            <a:r>
              <a:rPr lang="zh-CN" altLang="en-US" dirty="0"/>
              <a:t>的所有子块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EA69699-C2BA-9852-A1B1-952CBB0CFD54}"/>
              </a:ext>
            </a:extLst>
          </p:cNvPr>
          <p:cNvSpPr txBox="1"/>
          <p:nvPr/>
        </p:nvSpPr>
        <p:spPr>
          <a:xfrm>
            <a:off x="5857240" y="3697569"/>
            <a:ext cx="55414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即核 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, j) </a:t>
            </a:r>
            <a:r>
              <a:rPr lang="zh-CN" altLang="en-US" dirty="0"/>
              <a:t>负责 </a:t>
            </a:r>
            <a:r>
              <a:rPr lang="en-US" altLang="zh-CN" dirty="0"/>
              <a:t>C </a:t>
            </a:r>
            <a:r>
              <a:rPr lang="zh-CN" altLang="en-US" dirty="0"/>
              <a:t>的子块集合</a:t>
            </a:r>
            <a:endParaRPr lang="en-US" altLang="zh-CN" dirty="0"/>
          </a:p>
          <a:p>
            <a:r>
              <a:rPr lang="pt-BR" altLang="zh-CN" dirty="0"/>
              <a:t>{ (p, q) | p % R_row == i, q % R_col == j }</a:t>
            </a:r>
          </a:p>
          <a:p>
            <a:r>
              <a:rPr lang="zh-CN" altLang="en-US" dirty="0"/>
              <a:t>其中 </a:t>
            </a:r>
            <a:r>
              <a:rPr lang="en-US" altLang="zh-CN" dirty="0"/>
              <a:t>p ∈ [0, R_row-1], q ∈ [0, R_col-1]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代码可详见后方</a:t>
            </a:r>
            <a:r>
              <a:rPr lang="en-US" altLang="zh-CN" dirty="0" err="1"/>
              <a:t>Matmul</a:t>
            </a:r>
            <a:r>
              <a:rPr lang="zh-CN" altLang="en-US" dirty="0"/>
              <a:t>例子中的数据搬运部分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5905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2E040-48A0-B65B-8809-AF5D85894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847354BA-B0A9-8439-079D-B9DB55143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C9C1159-93EE-AFB7-E9B8-E8D68713C12F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52D2F12-DC45-6FAD-ACB7-6CF85A1E00CA}"/>
              </a:ext>
            </a:extLst>
          </p:cNvPr>
          <p:cNvSpPr txBox="1"/>
          <p:nvPr/>
        </p:nvSpPr>
        <p:spPr>
          <a:xfrm>
            <a:off x="1838960" y="374015"/>
            <a:ext cx="9235440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altLang="zh-CN" sz="4000" spc="100" noProof="1">
                <a:cs typeface="Arial" panose="020B0604020202020204" pitchFamily="34" charset="0"/>
              </a:rPr>
              <a:t>Where is Tiling?</a:t>
            </a:r>
          </a:p>
        </p:txBody>
      </p:sp>
      <p:pic>
        <p:nvPicPr>
          <p:cNvPr id="9" name="图片 8" descr="图形用户界面&#10;&#10;AI 生成的内容可能不正确。">
            <a:extLst>
              <a:ext uri="{FF2B5EF4-FFF2-40B4-BE49-F238E27FC236}">
                <a16:creationId xmlns:a16="http://schemas.microsoft.com/office/drawing/2014/main" id="{2B42FEA1-F713-8D0B-E590-B635A05B7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854362"/>
            <a:ext cx="7274218" cy="376025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C63B491-F0EC-B6E3-0B1C-A6A43E959222}"/>
              </a:ext>
            </a:extLst>
          </p:cNvPr>
          <p:cNvSpPr txBox="1"/>
          <p:nvPr/>
        </p:nvSpPr>
        <p:spPr>
          <a:xfrm>
            <a:off x="640080" y="1391152"/>
            <a:ext cx="108706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数据是如何流动的？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每次计算，从</a:t>
            </a:r>
            <a:r>
              <a:rPr lang="en-US" altLang="zh-CN" dirty="0"/>
              <a:t>L1Buffer</a:t>
            </a:r>
            <a:r>
              <a:rPr lang="zh-CN" altLang="en-US" dirty="0"/>
              <a:t>中提取</a:t>
            </a:r>
            <a:r>
              <a:rPr lang="en-US" altLang="zh-CN" dirty="0"/>
              <a:t>fp16,16*16</a:t>
            </a:r>
            <a:r>
              <a:rPr lang="zh-CN" altLang="en-US" dirty="0"/>
              <a:t>的两个矩阵，放入</a:t>
            </a:r>
            <a:r>
              <a:rPr lang="en-US" altLang="zh-CN" dirty="0"/>
              <a:t>L0A/L0B</a:t>
            </a:r>
            <a:r>
              <a:rPr lang="zh-CN" altLang="en-US" dirty="0"/>
              <a:t>传入</a:t>
            </a:r>
            <a:r>
              <a:rPr lang="en-US" altLang="zh-CN" dirty="0"/>
              <a:t>Cube</a:t>
            </a:r>
            <a:r>
              <a:rPr lang="zh-CN" altLang="en-US" dirty="0"/>
              <a:t>作计算，输出到</a:t>
            </a:r>
            <a:r>
              <a:rPr lang="en-US" altLang="zh-CN" dirty="0"/>
              <a:t>L0C Buffer</a:t>
            </a:r>
            <a:r>
              <a:rPr lang="zh-CN" altLang="en-US" dirty="0"/>
              <a:t>中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L1Buffer</a:t>
            </a:r>
            <a:r>
              <a:rPr lang="zh-CN" altLang="en-US" dirty="0"/>
              <a:t>大小：</a:t>
            </a:r>
            <a:r>
              <a:rPr lang="en-US" altLang="zh-CN" dirty="0"/>
              <a:t>1MB ;L0A Buffer</a:t>
            </a:r>
            <a:r>
              <a:rPr lang="zh-CN" altLang="en-US" dirty="0"/>
              <a:t>大小：</a:t>
            </a:r>
            <a:r>
              <a:rPr lang="en-US" altLang="zh-CN" dirty="0"/>
              <a:t>512B ; L0B</a:t>
            </a:r>
            <a:r>
              <a:rPr lang="zh-CN" altLang="en-US" dirty="0"/>
              <a:t>，同</a:t>
            </a:r>
            <a:r>
              <a:rPr lang="en-US" altLang="zh-CN" dirty="0"/>
              <a:t>L0A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1CF04D-9EB0-44F2-A7F9-7F73066C4656}"/>
              </a:ext>
            </a:extLst>
          </p:cNvPr>
          <p:cNvSpPr txBox="1"/>
          <p:nvPr/>
        </p:nvSpPr>
        <p:spPr>
          <a:xfrm>
            <a:off x="8118053" y="2927616"/>
            <a:ext cx="318887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因此必须按照最大</a:t>
            </a:r>
            <a:r>
              <a:rPr lang="en-US" altLang="zh-CN" dirty="0"/>
              <a:t>1MB</a:t>
            </a:r>
            <a:r>
              <a:rPr lang="zh-CN" altLang="en-US" dirty="0"/>
              <a:t>的存储空间来计算管理即将进入</a:t>
            </a:r>
            <a:r>
              <a:rPr lang="en-US" altLang="zh-CN" dirty="0"/>
              <a:t>L0</a:t>
            </a:r>
            <a:r>
              <a:rPr lang="zh-CN" altLang="en-US" dirty="0"/>
              <a:t>级别</a:t>
            </a:r>
            <a:r>
              <a:rPr lang="en-US" altLang="zh-CN" dirty="0"/>
              <a:t>Buffer</a:t>
            </a:r>
            <a:r>
              <a:rPr lang="zh-CN" altLang="en-US" dirty="0"/>
              <a:t>的数据，并且注意</a:t>
            </a:r>
            <a:r>
              <a:rPr lang="en-US" altLang="zh-CN" dirty="0"/>
              <a:t>L0</a:t>
            </a:r>
            <a:r>
              <a:rPr lang="zh-CN" altLang="en-US" dirty="0"/>
              <a:t>级</a:t>
            </a:r>
            <a:r>
              <a:rPr lang="en-US" altLang="zh-CN" dirty="0"/>
              <a:t>Buffer</a:t>
            </a:r>
            <a:r>
              <a:rPr lang="zh-CN" altLang="en-US" dirty="0"/>
              <a:t>本身所能容纳的大小。可以理解为不要申请太大的</a:t>
            </a:r>
            <a:r>
              <a:rPr lang="en-US" altLang="zh-CN" dirty="0" err="1"/>
              <a:t>LocalTensor</a:t>
            </a:r>
            <a:r>
              <a:rPr lang="zh-CN" altLang="en-US" dirty="0"/>
              <a:t>，一个切片矩阵不要大于</a:t>
            </a:r>
            <a:r>
              <a:rPr lang="en-US" altLang="zh-CN" dirty="0"/>
              <a:t>1MB</a:t>
            </a:r>
            <a:r>
              <a:rPr lang="zh-CN" altLang="en-US" dirty="0"/>
              <a:t>等。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典型例子：</a:t>
            </a:r>
            <a:endParaRPr lang="en-US" altLang="zh-CN" dirty="0"/>
          </a:p>
          <a:p>
            <a:r>
              <a:rPr lang="en-US" altLang="zh-CN" dirty="0"/>
              <a:t>Fp16,16*16</a:t>
            </a:r>
            <a:r>
              <a:rPr lang="zh-CN" altLang="en-US" dirty="0"/>
              <a:t>的两个矩阵</a:t>
            </a:r>
            <a:endParaRPr lang="en-US" altLang="zh-CN" dirty="0"/>
          </a:p>
          <a:p>
            <a:r>
              <a:rPr lang="zh-CN" altLang="en-US" dirty="0"/>
              <a:t>大小：</a:t>
            </a:r>
            <a:endParaRPr lang="en-US" altLang="zh-CN" dirty="0"/>
          </a:p>
          <a:p>
            <a:r>
              <a:rPr lang="en-US" altLang="zh-CN" dirty="0"/>
              <a:t>2B*16*16*2=1024B</a:t>
            </a:r>
            <a:r>
              <a:rPr lang="zh-CN" altLang="en-US" dirty="0"/>
              <a:t>可以从</a:t>
            </a:r>
            <a:r>
              <a:rPr lang="en-US" altLang="zh-CN" dirty="0"/>
              <a:t>L1</a:t>
            </a:r>
            <a:r>
              <a:rPr lang="zh-CN" altLang="en-US" dirty="0"/>
              <a:t>分别传入两个</a:t>
            </a:r>
            <a:r>
              <a:rPr lang="en-US" altLang="zh-CN" dirty="0"/>
              <a:t>L0Buffer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2522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19952-7F5A-50E7-7945-0EB58A930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5E1123-BD1B-F185-1682-BC75E43B927B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11187" y="1339216"/>
            <a:ext cx="10969625" cy="4759325"/>
          </a:xfrm>
        </p:spPr>
        <p:txBody>
          <a:bodyPr lIns="90000" tIns="46800" rIns="90000" bIns="46800" rtlCol="0">
            <a:normAutofit/>
          </a:bodyPr>
          <a:lstStyle/>
          <a:p>
            <a:pPr marL="0" indent="0">
              <a:buNone/>
            </a:pPr>
            <a:r>
              <a:rPr lang="zh-CN" altLang="en-US" sz="36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  <a:endParaRPr kumimoji="0" lang="en-US" altLang="zh-CN" sz="3600" b="0" i="0" u="none" strike="noStrike" kern="1200" cap="none" spc="100" normalizeH="0" baseline="0" noProof="1">
              <a:solidFill>
                <a:schemeClr val="tx1"/>
              </a:solidFill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3F427CAE-B2DC-5275-96D1-772730E553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D56EC07-4AC6-ABE5-3F54-615B647D3EAC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87A64DC-7A71-637B-4FE7-9E8BA7FB2CD2}"/>
              </a:ext>
            </a:extLst>
          </p:cNvPr>
          <p:cNvSpPr txBox="1"/>
          <p:nvPr/>
        </p:nvSpPr>
        <p:spPr>
          <a:xfrm>
            <a:off x="1838960" y="374015"/>
            <a:ext cx="9673590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spc="100" noProof="1">
                <a:cs typeface="Arial" panose="020B0604020202020204" pitchFamily="34" charset="0"/>
              </a:rPr>
              <a:t>Useful concepts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B60E1B-803D-9AAE-FB0B-26D6F06709D7}"/>
              </a:ext>
            </a:extLst>
          </p:cNvPr>
          <p:cNvSpPr txBox="1"/>
          <p:nvPr/>
        </p:nvSpPr>
        <p:spPr>
          <a:xfrm>
            <a:off x="1114185" y="1567543"/>
            <a:ext cx="1012755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solidFill>
                  <a:schemeClr val="accent6"/>
                </a:solidFill>
              </a:rPr>
              <a:t>Matmul</a:t>
            </a:r>
            <a:r>
              <a:rPr lang="en-US" altLang="zh-CN" sz="2400" b="1" dirty="0">
                <a:solidFill>
                  <a:schemeClr val="accent6"/>
                </a:solidFill>
              </a:rPr>
              <a:t> Tiling——</a:t>
            </a:r>
            <a:r>
              <a:rPr lang="zh-CN" altLang="en-US" sz="2400" b="1" dirty="0">
                <a:solidFill>
                  <a:schemeClr val="accent6"/>
                </a:solidFill>
              </a:rPr>
              <a:t>什么是</a:t>
            </a:r>
            <a:r>
              <a:rPr lang="en-US" altLang="zh-CN" sz="2400" b="1" dirty="0" err="1">
                <a:solidFill>
                  <a:schemeClr val="accent6"/>
                </a:solidFill>
              </a:rPr>
              <a:t>Matmul</a:t>
            </a:r>
            <a:r>
              <a:rPr lang="en-US" altLang="zh-CN" sz="2400" b="1" dirty="0">
                <a:solidFill>
                  <a:schemeClr val="accent6"/>
                </a:solidFill>
              </a:rPr>
              <a:t> Tiling</a:t>
            </a:r>
          </a:p>
          <a:p>
            <a:endParaRPr lang="en-US" altLang="zh-CN" sz="2400" b="1" dirty="0"/>
          </a:p>
          <a:p>
            <a:r>
              <a:rPr lang="zh-CN" altLang="en-US" sz="2400" dirty="0"/>
              <a:t>大多数情况下，</a:t>
            </a:r>
            <a:r>
              <a:rPr lang="en-US" altLang="zh-CN" sz="2400" dirty="0"/>
              <a:t>Local Memory </a:t>
            </a:r>
            <a:r>
              <a:rPr lang="zh-CN" altLang="en-US" sz="2400" dirty="0"/>
              <a:t>的存储无法完整容纳算子的输入与输出，需要每次搬运一部分输入进行计算然后搬出，再搬运下一部分输入进行计算，直到得到完整的最终结果。这个数据切分、分块计算的过程称之为 </a:t>
            </a:r>
            <a:r>
              <a:rPr lang="en-US" altLang="zh-CN" sz="2400" b="1" dirty="0"/>
              <a:t>Tiling</a:t>
            </a:r>
            <a:r>
              <a:rPr lang="zh-CN" altLang="en-US" sz="2400" dirty="0"/>
              <a:t>。</a:t>
            </a:r>
          </a:p>
          <a:p>
            <a:r>
              <a:rPr lang="zh-CN" altLang="en-US" sz="2400" dirty="0"/>
              <a:t>静态 </a:t>
            </a:r>
            <a:r>
              <a:rPr lang="en-US" altLang="zh-CN" sz="2400" dirty="0"/>
              <a:t>shape </a:t>
            </a:r>
            <a:r>
              <a:rPr lang="zh-CN" altLang="en-US" sz="2400" dirty="0"/>
              <a:t>场景下的 </a:t>
            </a:r>
            <a:r>
              <a:rPr lang="en-US" altLang="zh-CN" sz="2400" dirty="0"/>
              <a:t>Tiling </a:t>
            </a:r>
            <a:r>
              <a:rPr lang="zh-CN" altLang="en-US" sz="2400" dirty="0"/>
              <a:t>过程，由于输入的大小都是已知的，每次搬运多少数据、总共需要搬运多少次均可以在编译时直接计算出来。但是在动态 </a:t>
            </a:r>
            <a:r>
              <a:rPr lang="en-US" altLang="zh-CN" sz="2400" dirty="0"/>
              <a:t>Shape </a:t>
            </a:r>
            <a:r>
              <a:rPr lang="zh-CN" altLang="en-US" sz="2400" dirty="0"/>
              <a:t>场景下，输入的 </a:t>
            </a:r>
            <a:r>
              <a:rPr lang="en-US" altLang="zh-CN" sz="2400" dirty="0"/>
              <a:t>Shape </a:t>
            </a:r>
            <a:r>
              <a:rPr lang="zh-CN" altLang="en-US" sz="2400" dirty="0"/>
              <a:t>是未知的，无法直接计算出来每次搬运的块大小，以及总共循环多少次。所以需要通过很多的循环次数变量、搬运大小变量来保存这些数据，在运行时确定具体的输入 </a:t>
            </a:r>
            <a:r>
              <a:rPr lang="en-US" altLang="zh-CN" sz="2400" dirty="0"/>
              <a:t>shape </a:t>
            </a:r>
            <a:r>
              <a:rPr lang="zh-CN" altLang="en-US" sz="2400" dirty="0"/>
              <a:t>大小后，才能计算出这些变量的值，传递给 </a:t>
            </a:r>
            <a:r>
              <a:rPr lang="en-US" altLang="zh-CN" sz="2400" dirty="0"/>
              <a:t>Kernel</a:t>
            </a:r>
            <a:r>
              <a:rPr lang="zh-CN" altLang="en-US" sz="2400" dirty="0"/>
              <a:t>。这个计算变量的程序，就是动态 </a:t>
            </a:r>
            <a:r>
              <a:rPr lang="en-US" altLang="zh-CN" sz="2400" dirty="0"/>
              <a:t>Shape </a:t>
            </a:r>
            <a:r>
              <a:rPr lang="zh-CN" altLang="en-US" sz="2400" dirty="0"/>
              <a:t>算子的 </a:t>
            </a:r>
            <a:r>
              <a:rPr lang="en-US" altLang="zh-CN" sz="2400" b="1" dirty="0"/>
              <a:t>Tiling </a:t>
            </a:r>
            <a:r>
              <a:rPr lang="zh-CN" altLang="en-US" sz="2400" b="1" dirty="0"/>
              <a:t>函数</a:t>
            </a:r>
            <a:r>
              <a:rPr lang="zh-CN" altLang="en-US" sz="2400" dirty="0"/>
              <a:t>。</a:t>
            </a:r>
          </a:p>
          <a:p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7593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DB6BD-AF0E-A83D-99C0-84DDEA6A1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59A25E-9983-F0CD-C812-40A86EEB3723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11187" y="1339216"/>
            <a:ext cx="10969625" cy="4759325"/>
          </a:xfrm>
        </p:spPr>
        <p:txBody>
          <a:bodyPr lIns="90000" tIns="46800" rIns="90000" bIns="46800" rtlCol="0">
            <a:normAutofit/>
          </a:bodyPr>
          <a:lstStyle/>
          <a:p>
            <a:pPr marL="0" indent="0">
              <a:buNone/>
            </a:pPr>
            <a:r>
              <a:rPr lang="zh-CN" altLang="en-US" sz="3600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  <a:endParaRPr kumimoji="0" lang="en-US" altLang="zh-CN" sz="3600" b="0" i="0" u="none" strike="noStrike" kern="1200" cap="none" spc="100" normalizeH="0" baseline="0" noProof="1">
              <a:solidFill>
                <a:schemeClr val="tx1"/>
              </a:solidFill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F5A0E052-3AFF-9AE2-2933-A9EE854AB2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AF6AFE6-D890-6758-DDAB-149537D10719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4C3F7547-0822-0F34-47FC-CF4C5087D78A}"/>
              </a:ext>
            </a:extLst>
          </p:cNvPr>
          <p:cNvSpPr txBox="1"/>
          <p:nvPr/>
        </p:nvSpPr>
        <p:spPr>
          <a:xfrm>
            <a:off x="1838960" y="374015"/>
            <a:ext cx="9673590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spc="100" noProof="1">
                <a:cs typeface="Arial" panose="020B0604020202020204" pitchFamily="34" charset="0"/>
              </a:rPr>
              <a:t>Useful concepts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15CC9CC-D644-8E08-47A1-3DD146AA3301}"/>
              </a:ext>
            </a:extLst>
          </p:cNvPr>
          <p:cNvSpPr txBox="1"/>
          <p:nvPr/>
        </p:nvSpPr>
        <p:spPr>
          <a:xfrm>
            <a:off x="870772" y="1621970"/>
            <a:ext cx="10203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矢量算子编程范式把算子的实现流程分为 </a:t>
            </a:r>
            <a:r>
              <a:rPr lang="en-US" altLang="zh-CN" sz="2000" dirty="0"/>
              <a:t>3 </a:t>
            </a:r>
            <a:r>
              <a:rPr lang="zh-CN" altLang="en-US" sz="2000" dirty="0"/>
              <a:t>个基本任务：</a:t>
            </a:r>
            <a:br>
              <a:rPr lang="zh-CN" altLang="en-US" sz="2000" dirty="0"/>
            </a:br>
            <a:r>
              <a:rPr lang="en-US" altLang="zh-CN" sz="2000" b="1" dirty="0" err="1"/>
              <a:t>CopyIn</a:t>
            </a:r>
            <a:r>
              <a:rPr lang="zh-CN" altLang="en-US" sz="2000" dirty="0"/>
              <a:t>、</a:t>
            </a:r>
            <a:r>
              <a:rPr lang="en-US" altLang="zh-CN" sz="2000" b="1" dirty="0"/>
              <a:t>Compute</a:t>
            </a:r>
            <a:r>
              <a:rPr lang="zh-CN" altLang="en-US" sz="2000" dirty="0"/>
              <a:t>、</a:t>
            </a:r>
            <a:r>
              <a:rPr lang="en-US" altLang="zh-CN" sz="2000" b="1" dirty="0" err="1"/>
              <a:t>CopyOut</a:t>
            </a:r>
            <a:br>
              <a:rPr lang="zh-CN" altLang="en-US" sz="2000" dirty="0"/>
            </a:br>
            <a:r>
              <a:rPr lang="en-US" altLang="zh-CN" sz="2000" i="1" dirty="0" err="1"/>
              <a:t>CopyIn</a:t>
            </a:r>
            <a:r>
              <a:rPr lang="zh-CN" altLang="en-US" sz="2000" dirty="0"/>
              <a:t> 负责数据搬入操作，</a:t>
            </a:r>
            <a:r>
              <a:rPr lang="en-US" altLang="zh-CN" sz="2000" i="1" dirty="0"/>
              <a:t>Compute</a:t>
            </a:r>
            <a:r>
              <a:rPr lang="zh-CN" altLang="en-US" sz="2000" dirty="0"/>
              <a:t> 负责矢量计算操作，</a:t>
            </a:r>
            <a:r>
              <a:rPr lang="en-US" altLang="zh-CN" sz="2000" i="1" dirty="0" err="1"/>
              <a:t>CopyOut</a:t>
            </a:r>
            <a:r>
              <a:rPr lang="zh-CN" altLang="en-US" sz="2000" dirty="0"/>
              <a:t> 负责数据搬出操作</a:t>
            </a:r>
          </a:p>
        </p:txBody>
      </p:sp>
      <p:pic>
        <p:nvPicPr>
          <p:cNvPr id="12" name="图片 11" descr="图示&#10;&#10;AI 生成的内容可能不正确。">
            <a:extLst>
              <a:ext uri="{FF2B5EF4-FFF2-40B4-BE49-F238E27FC236}">
                <a16:creationId xmlns:a16="http://schemas.microsoft.com/office/drawing/2014/main" id="{41FC2025-50A9-BB31-7DCD-CFFAC04BF3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5507" y="2637633"/>
            <a:ext cx="4029637" cy="39248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26005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B7583-C0CE-EDC4-3386-B1CB1CB7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9C024B05-2985-CC45-2444-477928F935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7EC986A-50C8-3386-C2AC-C2FF624BF76A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2C86A27-29F4-73F7-D6F1-AF4360DDFE7E}"/>
              </a:ext>
            </a:extLst>
          </p:cNvPr>
          <p:cNvSpPr txBox="1"/>
          <p:nvPr/>
        </p:nvSpPr>
        <p:spPr>
          <a:xfrm>
            <a:off x="1838960" y="374015"/>
            <a:ext cx="9235440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charset="0"/>
              <a:buChar char="Ø"/>
            </a:pPr>
            <a:r>
              <a:rPr lang="en-US" altLang="zh-CN" sz="4000" spc="100" noProof="1">
                <a:cs typeface="Arial" panose="020B0604020202020204" pitchFamily="34" charset="0"/>
              </a:rPr>
              <a:t>A Muti-Core Matmul Opeartor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B2E4D21-598B-9D43-6F23-A6F529B24551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611187" y="1425484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6E5E5A29-9C16-6D6E-0674-BEC9FD4750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5" y="1561375"/>
            <a:ext cx="4124901" cy="387721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4A45AD0-A875-D5C8-FF15-185B688D69B6}"/>
              </a:ext>
            </a:extLst>
          </p:cNvPr>
          <p:cNvSpPr txBox="1"/>
          <p:nvPr/>
        </p:nvSpPr>
        <p:spPr>
          <a:xfrm>
            <a:off x="5140618" y="1555300"/>
            <a:ext cx="52174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主要编写</a:t>
            </a:r>
            <a:r>
              <a:rPr lang="en-US" altLang="zh-CN" dirty="0"/>
              <a:t>tiling.cpp</a:t>
            </a:r>
            <a:r>
              <a:rPr lang="zh-CN" altLang="en-US" dirty="0"/>
              <a:t>和</a:t>
            </a:r>
            <a:r>
              <a:rPr lang="en-US" altLang="zh-CN" dirty="0"/>
              <a:t>.</a:t>
            </a:r>
            <a:r>
              <a:rPr lang="en-US" altLang="zh-CN" dirty="0" err="1"/>
              <a:t>cpp</a:t>
            </a:r>
            <a:r>
              <a:rPr lang="zh-CN" altLang="en-US" dirty="0"/>
              <a:t>文件</a:t>
            </a:r>
            <a:endParaRPr lang="en-US" altLang="zh-CN" dirty="0"/>
          </a:p>
          <a:p>
            <a:r>
              <a:rPr lang="en-US" altLang="zh-CN" dirty="0"/>
              <a:t>tiling.cpp</a:t>
            </a:r>
            <a:r>
              <a:rPr lang="zh-CN" altLang="en-US" dirty="0"/>
              <a:t>主要声明算子的一些性质</a:t>
            </a:r>
            <a:endParaRPr lang="en-US" altLang="zh-CN" dirty="0"/>
          </a:p>
          <a:p>
            <a:r>
              <a:rPr lang="zh-CN" altLang="en-US" dirty="0"/>
              <a:t>例如输入输出类型</a:t>
            </a:r>
            <a:r>
              <a:rPr lang="en-US" altLang="zh-CN" dirty="0"/>
              <a:t>/</a:t>
            </a:r>
            <a:r>
              <a:rPr lang="zh-CN" altLang="en-US" dirty="0"/>
              <a:t>块大小，参与计算的核数等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部分</a:t>
            </a:r>
            <a:r>
              <a:rPr lang="en-US" altLang="zh-CN" dirty="0"/>
              <a:t>tiling.cpp</a:t>
            </a:r>
            <a:r>
              <a:rPr lang="zh-CN" altLang="en-US" dirty="0"/>
              <a:t>代码：</a:t>
            </a:r>
          </a:p>
        </p:txBody>
      </p:sp>
      <p:pic>
        <p:nvPicPr>
          <p:cNvPr id="8" name="图片 7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A90AE201-BFEA-A747-F102-BB8F02C6E5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3563" y="3168782"/>
            <a:ext cx="3895152" cy="121761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9E17FB8-9DD9-8D71-2B12-B0C956EADC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3564" y="4522549"/>
            <a:ext cx="3550024" cy="28651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53688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7166A-208F-8847-D942-6BA6EC90F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D5D3DBD0-21F2-76CF-7CC6-06A43F4CD1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B665708-76AD-8C6A-6553-AD19088F6076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AF3A768-BF25-D657-C285-0B1AD301E4B9}"/>
              </a:ext>
            </a:extLst>
          </p:cNvPr>
          <p:cNvSpPr txBox="1"/>
          <p:nvPr/>
        </p:nvSpPr>
        <p:spPr>
          <a:xfrm>
            <a:off x="1838960" y="374015"/>
            <a:ext cx="9235440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charset="0"/>
              <a:buChar char="Ø"/>
            </a:pPr>
            <a:r>
              <a:rPr lang="en-US" altLang="zh-CN" sz="4000" spc="100" noProof="1">
                <a:cs typeface="Arial" panose="020B0604020202020204" pitchFamily="34" charset="0"/>
              </a:rPr>
              <a:t>A Muti-Core Matmul Opeartor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CE99CA9C-0FA3-0815-C603-B852FFF1A1F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4514453" y="-776949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2FE074-A3A1-0B12-494A-5DE9356F9A51}"/>
              </a:ext>
            </a:extLst>
          </p:cNvPr>
          <p:cNvSpPr txBox="1"/>
          <p:nvPr/>
        </p:nvSpPr>
        <p:spPr>
          <a:xfrm>
            <a:off x="1037343" y="1602714"/>
            <a:ext cx="9359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如果你使用自定义</a:t>
            </a:r>
            <a:r>
              <a:rPr lang="en-US" altLang="zh-CN" dirty="0"/>
              <a:t>tiling</a:t>
            </a:r>
            <a:r>
              <a:rPr lang="zh-CN" altLang="en-US" dirty="0"/>
              <a:t>，也就是自己编写了</a:t>
            </a:r>
            <a:r>
              <a:rPr lang="en-US" altLang="zh-CN" dirty="0"/>
              <a:t>tiling.cpp,</a:t>
            </a:r>
            <a:r>
              <a:rPr lang="zh-CN" altLang="en-US" dirty="0"/>
              <a:t>则需要在算子类内进行声明</a:t>
            </a:r>
            <a:endParaRPr lang="en-US" altLang="zh-CN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A1AAA9-5801-1809-E4F6-09E7108524A4}"/>
              </a:ext>
            </a:extLst>
          </p:cNvPr>
          <p:cNvSpPr txBox="1"/>
          <p:nvPr/>
        </p:nvSpPr>
        <p:spPr>
          <a:xfrm>
            <a:off x="958105" y="3550846"/>
            <a:ext cx="9359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为多核作切片</a:t>
            </a:r>
            <a:endParaRPr lang="en-US" altLang="zh-CN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5E2E7EC-92B6-6927-D2A4-3B3EC16ED28A}"/>
              </a:ext>
            </a:extLst>
          </p:cNvPr>
          <p:cNvSpPr txBox="1"/>
          <p:nvPr/>
        </p:nvSpPr>
        <p:spPr>
          <a:xfrm>
            <a:off x="958105" y="4627017"/>
            <a:ext cx="9359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为多核作切片搬运</a:t>
            </a:r>
            <a:r>
              <a:rPr lang="en-US" altLang="zh-CN" dirty="0" err="1"/>
              <a:t>DataCopy</a:t>
            </a:r>
            <a:endParaRPr lang="en-US" altLang="zh-CN" dirty="0"/>
          </a:p>
        </p:txBody>
      </p:sp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03EEEFB3-6716-E05B-F154-21C83A2073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342" y="2612998"/>
            <a:ext cx="7468883" cy="937848"/>
          </a:xfrm>
          <a:prstGeom prst="rect">
            <a:avLst/>
          </a:prstGeom>
        </p:spPr>
      </p:pic>
      <p:pic>
        <p:nvPicPr>
          <p:cNvPr id="10" name="图片 9" descr="图片包含 图表&#10;&#10;AI 生成的内容可能不正确。">
            <a:extLst>
              <a:ext uri="{FF2B5EF4-FFF2-40B4-BE49-F238E27FC236}">
                <a16:creationId xmlns:a16="http://schemas.microsoft.com/office/drawing/2014/main" id="{CB6D3F64-E376-3AB6-ABF1-E5D6AD832F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105" y="2039600"/>
            <a:ext cx="2218601" cy="497273"/>
          </a:xfrm>
          <a:prstGeom prst="rect">
            <a:avLst/>
          </a:prstGeom>
        </p:spPr>
      </p:pic>
      <p:pic>
        <p:nvPicPr>
          <p:cNvPr id="14" name="图片 13" descr="手机屏幕截图&#10;&#10;AI 生成的内容可能不正确。">
            <a:extLst>
              <a:ext uri="{FF2B5EF4-FFF2-40B4-BE49-F238E27FC236}">
                <a16:creationId xmlns:a16="http://schemas.microsoft.com/office/drawing/2014/main" id="{C0C16BBD-8E4A-8DC4-1A2C-36EBCF2231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105" y="3927084"/>
            <a:ext cx="3967361" cy="549327"/>
          </a:xfrm>
          <a:prstGeom prst="rect">
            <a:avLst/>
          </a:prstGeom>
        </p:spPr>
      </p:pic>
      <p:pic>
        <p:nvPicPr>
          <p:cNvPr id="19" name="图片 18" descr="文本&#10;&#10;AI 生成的内容可能不正确。">
            <a:extLst>
              <a:ext uri="{FF2B5EF4-FFF2-40B4-BE49-F238E27FC236}">
                <a16:creationId xmlns:a16="http://schemas.microsoft.com/office/drawing/2014/main" id="{223C7912-FE1E-8919-5EAA-FACA706ADB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0627" y="3664054"/>
            <a:ext cx="4580183" cy="254019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D45EE17-B5DC-522C-7097-6860F20512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7342" y="5160493"/>
            <a:ext cx="6247437" cy="4516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58150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2C44A-5B37-1DB0-A679-FFD343BE5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DD02AFD0-03DE-6EE1-056D-40251D84C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434080F-F2B4-B680-1A36-63A55C1C5664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099182C-F0C0-A3DD-3E01-6F2218FD290F}"/>
              </a:ext>
            </a:extLst>
          </p:cNvPr>
          <p:cNvSpPr txBox="1"/>
          <p:nvPr/>
        </p:nvSpPr>
        <p:spPr>
          <a:xfrm>
            <a:off x="1838960" y="374015"/>
            <a:ext cx="9235440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charset="0"/>
              <a:buChar char="Ø"/>
            </a:pPr>
            <a:r>
              <a:rPr lang="en-US" altLang="zh-CN" sz="4000" spc="100" noProof="1">
                <a:cs typeface="Arial" panose="020B0604020202020204" pitchFamily="34" charset="0"/>
              </a:rPr>
              <a:t>A Muti-Core Matmul Opeartor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14A1AB7-1934-AD64-B18C-69FB8A2B8A7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4514453" y="-776949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3F0BEEF-7690-D11A-EF20-509557181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2124599"/>
            <a:ext cx="10969625" cy="4197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E7E8C33-58D0-C084-F8E8-0A29C85138D5}"/>
              </a:ext>
            </a:extLst>
          </p:cNvPr>
          <p:cNvSpPr txBox="1"/>
          <p:nvPr/>
        </p:nvSpPr>
        <p:spPr>
          <a:xfrm>
            <a:off x="4180114" y="1418047"/>
            <a:ext cx="2484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上页核心函数参数逻辑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2643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D55B7-F095-6CF8-71FD-8FBFD4CCE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63ABC9F2-750D-438C-5CE3-B4B7E69E64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F6C8A70-8E65-578C-B3B7-7CE561BD24E5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6FA52236-09C7-CF18-42B2-67E2D27A37A7}"/>
              </a:ext>
            </a:extLst>
          </p:cNvPr>
          <p:cNvSpPr txBox="1"/>
          <p:nvPr/>
        </p:nvSpPr>
        <p:spPr>
          <a:xfrm>
            <a:off x="1838960" y="374015"/>
            <a:ext cx="9235440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charset="0"/>
              <a:buChar char="Ø"/>
            </a:pPr>
            <a:r>
              <a:rPr lang="en-US" altLang="zh-CN" sz="4000" spc="100" noProof="1">
                <a:cs typeface="Arial" panose="020B0604020202020204" pitchFamily="34" charset="0"/>
              </a:rPr>
              <a:t>A Muti-Core Matmul Opeartor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EEA3A11-1F81-4F87-1D8D-13850B73C51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4514453" y="-776949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8" name="图片 7" descr="日历&#10;&#10;AI 生成的内容可能不正确。">
            <a:extLst>
              <a:ext uri="{FF2B5EF4-FFF2-40B4-BE49-F238E27FC236}">
                <a16:creationId xmlns:a16="http://schemas.microsoft.com/office/drawing/2014/main" id="{9078AD7B-9FAA-79F4-E72B-C8C96E5947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4750" y="3482030"/>
            <a:ext cx="8760158" cy="19442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09210C0-5829-DF03-F179-C37D2B9DE965}"/>
              </a:ext>
            </a:extLst>
          </p:cNvPr>
          <p:cNvSpPr txBox="1"/>
          <p:nvPr/>
        </p:nvSpPr>
        <p:spPr>
          <a:xfrm>
            <a:off x="1306286" y="1675118"/>
            <a:ext cx="87060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上上页</a:t>
            </a:r>
            <a:r>
              <a:rPr lang="en-US" altLang="zh-CN" dirty="0"/>
              <a:t>PPT</a:t>
            </a:r>
            <a:r>
              <a:rPr lang="zh-CN" altLang="en-US" dirty="0"/>
              <a:t>中代码的分块逻辑</a:t>
            </a:r>
            <a:endParaRPr lang="en-US" altLang="zh-CN" dirty="0"/>
          </a:p>
          <a:p>
            <a:r>
              <a:rPr lang="zh-CN" altLang="en-US" dirty="0"/>
              <a:t>示例矩阵</a:t>
            </a:r>
            <a:r>
              <a:rPr lang="en-US" altLang="zh-CN" dirty="0"/>
              <a:t>X*W=Y,</a:t>
            </a:r>
            <a:r>
              <a:rPr lang="zh-CN" altLang="en-US" dirty="0"/>
              <a:t>我们将</a:t>
            </a:r>
            <a:r>
              <a:rPr lang="en-US" altLang="zh-CN" dirty="0"/>
              <a:t>W</a:t>
            </a:r>
            <a:r>
              <a:rPr lang="zh-CN" altLang="en-US" dirty="0"/>
              <a:t>按列分块，分为八块对应八核。如下图。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7756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FC3B5-9FA9-D120-B25C-450BC1359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97298277-AF47-15C7-7C18-1FF2D68A2D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7953820-81B2-8AA9-BFBE-8589228F363A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AC6983E-2DEC-B44E-C6A3-4536D0B880A4}"/>
              </a:ext>
            </a:extLst>
          </p:cNvPr>
          <p:cNvSpPr txBox="1"/>
          <p:nvPr/>
        </p:nvSpPr>
        <p:spPr>
          <a:xfrm>
            <a:off x="1838960" y="374015"/>
            <a:ext cx="9235440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charset="0"/>
              <a:buChar char="Ø"/>
            </a:pPr>
            <a:r>
              <a:rPr lang="en-US" altLang="zh-CN" sz="4000" spc="100" noProof="1">
                <a:cs typeface="Arial" panose="020B0604020202020204" pitchFamily="34" charset="0"/>
              </a:rPr>
              <a:t>A Muti-Core Matmul Opeartor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C64A7562-53B7-C11B-0C7D-69F3DF21A782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4514453" y="-776949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D3868B-8609-DD17-4365-692434A4F9C5}"/>
              </a:ext>
            </a:extLst>
          </p:cNvPr>
          <p:cNvSpPr txBox="1"/>
          <p:nvPr/>
        </p:nvSpPr>
        <p:spPr>
          <a:xfrm>
            <a:off x="1037343" y="1602713"/>
            <a:ext cx="106347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矩阵乘核心部分（输入为</a:t>
            </a:r>
            <a:r>
              <a:rPr lang="en-US" altLang="zh-CN" sz="2800" dirty="0"/>
              <a:t>VECOUT,</a:t>
            </a:r>
            <a:r>
              <a:rPr lang="zh-CN" altLang="en-US" sz="2800" dirty="0"/>
              <a:t>输出为</a:t>
            </a:r>
            <a:r>
              <a:rPr lang="en-US" altLang="zh-CN" sz="2800" dirty="0"/>
              <a:t>VECIN</a:t>
            </a:r>
            <a:r>
              <a:rPr lang="zh-CN" altLang="en-US" sz="2800" dirty="0"/>
              <a:t>）</a:t>
            </a:r>
            <a:r>
              <a:rPr lang="en-US" altLang="zh-CN" sz="2800" dirty="0"/>
              <a:t>,</a:t>
            </a:r>
            <a:r>
              <a:rPr lang="zh-CN" altLang="en-US" sz="2800" dirty="0"/>
              <a:t>可以得到相应切片的矩阵乘结果</a:t>
            </a:r>
            <a:endParaRPr lang="en-US" altLang="zh-CN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A48B4E-DC59-96E6-6EDC-490A753FC4DE}"/>
              </a:ext>
            </a:extLst>
          </p:cNvPr>
          <p:cNvSpPr txBox="1"/>
          <p:nvPr/>
        </p:nvSpPr>
        <p:spPr>
          <a:xfrm>
            <a:off x="5770709" y="3551487"/>
            <a:ext cx="62701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后续按照数据搬运原则搬运到</a:t>
            </a:r>
            <a:r>
              <a:rPr lang="en-US" altLang="zh-CN" sz="2800" dirty="0" err="1"/>
              <a:t>GlobalMem</a:t>
            </a:r>
            <a:r>
              <a:rPr lang="zh-CN" altLang="en-US" sz="2800" dirty="0"/>
              <a:t>的各自位置即可</a:t>
            </a:r>
            <a:endParaRPr lang="en-US" altLang="zh-CN" sz="2800" dirty="0"/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04225B62-2D25-41CA-BA05-36E2885131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4954" y="2942760"/>
            <a:ext cx="4172532" cy="2543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5318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2B5BA-BD99-BCF1-3A39-68DB3FE44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D71C36-7F98-86B7-FD0A-ACFFE7A8916C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13887" y="1339216"/>
            <a:ext cx="10260513" cy="4759325"/>
          </a:xfrm>
        </p:spPr>
        <p:txBody>
          <a:bodyPr lIns="90000" tIns="46800" rIns="90000" bIns="46800" rtlCol="0"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2400" b="1" spc="1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</a:t>
            </a:r>
            <a:r>
              <a:rPr kumimoji="0" lang="en-US" altLang="zh-CN" sz="2400" b="1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 dirty="0">
                <a:hlinkClick r:id="rId5"/>
              </a:rPr>
              <a:t>使用直调方式开发</a:t>
            </a:r>
            <a:r>
              <a:rPr lang="zh-CN" altLang="en-US" sz="2000" dirty="0"/>
              <a:t> </a:t>
            </a:r>
            <a:r>
              <a:rPr lang="en-US" altLang="zh-CN" sz="2000" dirty="0"/>
              <a:t>	</a:t>
            </a:r>
            <a:r>
              <a:rPr lang="en-US" altLang="zh-CN" sz="2000" dirty="0">
                <a:hlinkClick r:id="rId6"/>
              </a:rPr>
              <a:t>HelloWorld</a:t>
            </a:r>
            <a:r>
              <a:rPr lang="en-US" altLang="zh-CN" sz="2000" dirty="0"/>
              <a:t>	</a:t>
            </a:r>
            <a:r>
              <a:rPr lang="en-US" altLang="zh-CN" sz="2000" dirty="0" err="1">
                <a:hlinkClick r:id="rId7"/>
              </a:rPr>
              <a:t>DataType</a:t>
            </a:r>
            <a:r>
              <a:rPr lang="en-US" altLang="zh-CN" sz="2000" dirty="0"/>
              <a:t> 	</a:t>
            </a:r>
            <a:r>
              <a:rPr lang="en-US" altLang="zh-CN" sz="2000" dirty="0" err="1">
                <a:hlinkClick r:id="rId8"/>
              </a:rPr>
              <a:t>DataCopy</a:t>
            </a:r>
            <a:r>
              <a:rPr lang="en-US" altLang="zh-CN" sz="2000" dirty="0">
                <a:hlinkClick r:id="rId8"/>
              </a:rPr>
              <a:t>() </a:t>
            </a:r>
            <a:r>
              <a:rPr lang="zh-CN" altLang="en-US" sz="2000" dirty="0">
                <a:hlinkClick r:id="rId8"/>
              </a:rPr>
              <a:t>重要！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 err="1">
                <a:hlinkClick r:id="rId9"/>
              </a:rPr>
              <a:t>SliceInfo</a:t>
            </a:r>
            <a:r>
              <a:rPr lang="en-US" altLang="zh-CN" sz="2000" dirty="0">
                <a:hlinkClick r:id="rId9"/>
              </a:rPr>
              <a:t> </a:t>
            </a:r>
            <a:r>
              <a:rPr lang="zh-CN" altLang="en-US" sz="2000" dirty="0">
                <a:hlinkClick r:id="rId9"/>
              </a:rPr>
              <a:t>重要！</a:t>
            </a:r>
            <a:r>
              <a:rPr lang="en-US" altLang="zh-CN" sz="2000" dirty="0"/>
              <a:t>	</a:t>
            </a:r>
            <a:r>
              <a:rPr lang="en-US" altLang="zh-CN" sz="2000" dirty="0" err="1">
                <a:hlinkClick r:id="rId10"/>
              </a:rPr>
              <a:t>Matmul</a:t>
            </a:r>
            <a:r>
              <a:rPr lang="zh-CN" altLang="en-US" sz="2000" dirty="0">
                <a:hlinkClick r:id="rId10"/>
              </a:rPr>
              <a:t>官方代码示例</a:t>
            </a:r>
            <a:r>
              <a:rPr lang="en-US" altLang="zh-CN" sz="2000" dirty="0"/>
              <a:t>		</a:t>
            </a:r>
            <a:r>
              <a:rPr lang="en-US" altLang="zh-CN" sz="2000" dirty="0" err="1">
                <a:hlinkClick r:id="rId11"/>
              </a:rPr>
              <a:t>MatmulLeakyRelu</a:t>
            </a:r>
            <a:r>
              <a:rPr lang="zh-CN" altLang="en-US" sz="2000" dirty="0">
                <a:hlinkClick r:id="rId11"/>
              </a:rPr>
              <a:t>示例算子</a:t>
            </a:r>
            <a:br>
              <a:rPr lang="en-US" altLang="zh-CN" sz="2000" dirty="0"/>
            </a:br>
            <a:endParaRPr lang="en-US" altLang="zh-CN" sz="20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en-US" altLang="zh-CN" sz="2000" b="0" i="0" u="none" strike="noStrike" kern="1200" cap="none" spc="15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 </a:t>
            </a:r>
            <a:r>
              <a:rPr lang="en-US" altLang="zh-CN" sz="2400" b="1" spc="100" noProof="1">
                <a:solidFill>
                  <a:prstClr val="black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Video</a:t>
            </a:r>
            <a:r>
              <a:rPr kumimoji="0" lang="en-US" altLang="zh-CN" sz="2400" b="1" i="0" u="none" strike="noStrike" kern="1200" cap="none" spc="10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:</a:t>
            </a:r>
            <a:endParaRPr lang="en-US" altLang="zh-CN" sz="2400" b="1" dirty="0"/>
          </a:p>
          <a:p>
            <a:pPr marL="0" indent="0">
              <a:buNone/>
            </a:pPr>
            <a:r>
              <a:rPr kumimoji="0" lang="en-US" altLang="zh-CN" sz="28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hlinkClick r:id="rId12"/>
              </a:rPr>
              <a:t>B</a:t>
            </a:r>
            <a:r>
              <a:rPr kumimoji="0" lang="zh-CN" altLang="en-US" sz="2800" b="0" i="0" u="none" strike="noStrike" kern="1200" cap="none" spc="100" normalizeH="0" baseline="0" noProof="1"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hlinkClick r:id="rId12"/>
              </a:rPr>
              <a:t>站官方教学</a:t>
            </a:r>
            <a:endParaRPr kumimoji="0" lang="en-US" altLang="zh-CN" sz="2800" b="0" i="0" u="none" strike="noStrike" kern="1200" cap="none" spc="100" normalizeH="0" baseline="0" noProof="1">
              <a:solidFill>
                <a:schemeClr val="tx1"/>
              </a:solidFill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74" name="图片 3" descr="2da64451-6151-4c70-995c-fccc65c1d94b">
            <a:extLst>
              <a:ext uri="{FF2B5EF4-FFF2-40B4-BE49-F238E27FC236}">
                <a16:creationId xmlns:a16="http://schemas.microsoft.com/office/drawing/2014/main" id="{8A772E8A-FE56-79F9-9685-800D86A58A0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9450" y="152400"/>
            <a:ext cx="990600" cy="9906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F940003-EDAF-68C9-218C-9AE74DFB1E95}"/>
              </a:ext>
            </a:extLst>
          </p:cNvPr>
          <p:cNvCxnSpPr/>
          <p:nvPr/>
        </p:nvCxnSpPr>
        <p:spPr>
          <a:xfrm flipV="1">
            <a:off x="640080" y="1203325"/>
            <a:ext cx="10434320" cy="0"/>
          </a:xfrm>
          <a:prstGeom prst="line">
            <a:avLst/>
          </a:prstGeom>
          <a:ln w="38100">
            <a:gradFill>
              <a:gsLst>
                <a:gs pos="0">
                  <a:srgbClr val="FFFFFF"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1000">
                  <a:schemeClr val="accent1"/>
                </a:gs>
                <a:gs pos="0">
                  <a:schemeClr val="accent1">
                    <a:lumMod val="78000"/>
                    <a:lumOff val="22000"/>
                  </a:schemeClr>
                </a:gs>
                <a:gs pos="24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50B1F15F-CB43-A04B-3D0C-55F20E4F5102}"/>
              </a:ext>
            </a:extLst>
          </p:cNvPr>
          <p:cNvSpPr txBox="1"/>
          <p:nvPr/>
        </p:nvSpPr>
        <p:spPr>
          <a:xfrm>
            <a:off x="1838960" y="374015"/>
            <a:ext cx="9673590" cy="693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/>
            <a:r>
              <a:rPr lang="en-US" altLang="zh-CN" sz="4000" b="1" spc="150" noProof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Learning resources</a:t>
            </a:r>
            <a:endParaRPr lang="en-US" altLang="zh-CN" sz="4000" b="1" spc="150" noProof="1">
              <a:solidFill>
                <a:schemeClr val="accent1">
                  <a:lumMod val="7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0286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563" y="1127125"/>
            <a:ext cx="9799637" cy="1606550"/>
          </a:xfrm>
        </p:spPr>
        <p:txBody>
          <a:bodyPr vert="horz" lIns="90000" tIns="46800" rIns="90000" bIns="46800" anchor="b" anchorCtr="0"/>
          <a:lstStyle/>
          <a:p>
            <a:pPr defTabSz="914400">
              <a:buClrTx/>
              <a:buSzTx/>
              <a:buFontTx/>
              <a:buNone/>
            </a:pPr>
            <a:r>
              <a:rPr lang="en-US" altLang="zh-CN" sz="4400" kern="1200" normalizeH="0" baseline="0">
                <a:latin typeface="+mj-lt"/>
                <a:ea typeface="+mj-ea"/>
                <a:cs typeface="+mj-cs"/>
              </a:rPr>
              <a:t>Thanks!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234440" y="3114675"/>
            <a:ext cx="9763760" cy="0"/>
          </a:xfrm>
          <a:prstGeom prst="line">
            <a:avLst/>
          </a:prstGeom>
          <a:ln w="38100" cmpd="sng">
            <a:gradFill>
              <a:gsLst>
                <a:gs pos="0">
                  <a:srgbClr val="D2DCF2">
                    <a:alpha val="100000"/>
                    <a:lumMod val="0"/>
                    <a:lumOff val="100000"/>
                  </a:srgbClr>
                </a:gs>
                <a:gs pos="100000">
                  <a:schemeClr val="accent1">
                    <a:lumMod val="5000"/>
                    <a:lumOff val="95000"/>
                  </a:schemeClr>
                </a:gs>
                <a:gs pos="25000">
                  <a:schemeClr val="accent1">
                    <a:lumMod val="45000"/>
                    <a:lumOff val="55000"/>
                  </a:schemeClr>
                </a:gs>
                <a:gs pos="50000">
                  <a:schemeClr val="accent1">
                    <a:lumMod val="78000"/>
                    <a:lumOff val="22000"/>
                  </a:schemeClr>
                </a:gs>
                <a:gs pos="75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副标题 2">
            <a:extLst>
              <a:ext uri="{FF2B5EF4-FFF2-40B4-BE49-F238E27FC236}">
                <a16:creationId xmlns:a16="http://schemas.microsoft.com/office/drawing/2014/main" id="{83A02BED-BF7A-98C4-6051-DC886EEFD528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563" y="3535363"/>
            <a:ext cx="9799637" cy="1473200"/>
          </a:xfrm>
        </p:spPr>
        <p:txBody>
          <a:bodyPr vert="horz" lIns="90000" tIns="46800" rIns="90000" bIns="46800" anchor="t" anchorCtr="0">
            <a:normAutofit lnSpcReduction="10000"/>
          </a:bodyPr>
          <a:lstStyle/>
          <a:p>
            <a:pPr defTabSz="914400">
              <a:buClrTx/>
              <a:buSzTx/>
            </a:pPr>
            <a:r>
              <a:rPr lang="en-US" altLang="zh-CN" kern="1200" normalizeH="0" baseline="0" dirty="0">
                <a:latin typeface="+mn-lt"/>
                <a:ea typeface="+mn-ea"/>
                <a:cs typeface="+mn-cs"/>
              </a:rPr>
              <a:t>Presenter: </a:t>
            </a:r>
            <a:r>
              <a:rPr lang="en-US" altLang="zh-CN" dirty="0" err="1"/>
              <a:t>WangYuhang</a:t>
            </a:r>
            <a:r>
              <a:rPr lang="en-US" altLang="zh-CN" dirty="0"/>
              <a:t> &amp; </a:t>
            </a:r>
            <a:r>
              <a:rPr lang="en-US" altLang="zh-CN" dirty="0" err="1"/>
              <a:t>ChengYetai</a:t>
            </a:r>
            <a:endParaRPr lang="zh-CN" altLang="en-US" kern="1200" normalizeH="0" baseline="0" dirty="0">
              <a:latin typeface="+mn-lt"/>
              <a:ea typeface="+mn-ea"/>
              <a:cs typeface="+mn-cs"/>
            </a:endParaRPr>
          </a:p>
          <a:p>
            <a:pPr defTabSz="914400">
              <a:buClrTx/>
              <a:buSzTx/>
            </a:pPr>
            <a:r>
              <a:rPr lang="en-US" altLang="zh-CN" kern="1200" normalizeH="0" baseline="0" dirty="0">
                <a:latin typeface="+mn-lt"/>
                <a:ea typeface="+mn-ea"/>
                <a:cs typeface="+mn-cs"/>
              </a:rPr>
              <a:t>2026.1.23  Fri</a:t>
            </a:r>
          </a:p>
          <a:p>
            <a:pPr defTabSz="914400">
              <a:buClrTx/>
              <a:buSzTx/>
            </a:pPr>
            <a:r>
              <a:rPr lang="en-US" altLang="zh-CN" dirty="0"/>
              <a:t>USTC,</a:t>
            </a:r>
            <a:r>
              <a:rPr lang="zh-CN" altLang="en-US" dirty="0"/>
              <a:t> </a:t>
            </a:r>
            <a:r>
              <a:rPr lang="en-US" altLang="zh-CN" dirty="0"/>
              <a:t>Hefei,</a:t>
            </a:r>
            <a:r>
              <a:rPr lang="zh-CN" altLang="en-US" dirty="0"/>
              <a:t> </a:t>
            </a:r>
            <a:r>
              <a:rPr lang="en-US" altLang="zh-CN" dirty="0"/>
              <a:t>China</a:t>
            </a:r>
            <a:endParaRPr lang="en-US" altLang="zh-CN" kern="1200" normalizeH="0" baseline="0" dirty="0">
              <a:latin typeface="+mn-lt"/>
              <a:ea typeface="+mn-ea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</TotalTime>
  <Words>2109</Words>
  <Application>Microsoft Office PowerPoint</Application>
  <PresentationFormat>宽屏</PresentationFormat>
  <Paragraphs>194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等线</vt:lpstr>
      <vt:lpstr>Arial</vt:lpstr>
      <vt:lpstr>Wingdings</vt:lpstr>
      <vt:lpstr>WPS</vt:lpstr>
      <vt:lpstr>Brief Introduction about AscendC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Asus</dc:creator>
  <cp:lastModifiedBy>a w</cp:lastModifiedBy>
  <cp:revision>494</cp:revision>
  <cp:lastPrinted>2026-01-22T12:14:36Z</cp:lastPrinted>
  <dcterms:created xsi:type="dcterms:W3CDTF">2019-06-19T02:08:00Z</dcterms:created>
  <dcterms:modified xsi:type="dcterms:W3CDTF">2026-01-23T11:48:37Z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3789FE7093D64E80A2FFF725CCCC6004_11</vt:lpwstr>
  </property>
</Properties>
</file>